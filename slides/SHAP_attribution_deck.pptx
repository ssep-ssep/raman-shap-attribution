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aman_shap_analysi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aman_shap_analysi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68552e7da8aabb3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ec729d56fcacc61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35bc52445bb0e18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a28fbf18c4789fc.png"/>
  <Relationship Id="rId3" Type="http://schemas.openxmlformats.org/officeDocument/2006/relationships/image" Target="../media/image_797eb4bbbe793a10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65f2233d961331b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f17cd739376ca70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eb12da29fd29551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rgbClr val="0D254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over-kicker"/>
          <p:cNvGrpSpPr/>
          <p:nvPr/>
        </p:nvGrpSpPr>
        <p:grpSpPr>
          <a:xfrm>
            <a:off x="755142" y="1263650"/>
            <a:ext cx="3248235" cy="264033"/>
            <a:chOff x="755142" y="1263650"/>
            <a:chExt cx="3248235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1263650"/>
              <a:ext cx="3248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rgbClr val="7FA8C9"/>
                  </a:solidFill>
                  <a:latin typeface="+mn-lt"/>
                  <a:ea typeface="+mn-ea"/>
                  <a:cs typeface="+mn-cs"/>
                </a:rPr>
                <a:t>机器学习可解释性分析 · 技术评审</a:t>
              </a:r>
            </a:p>
          </p:txBody>
        </p:sp>
      </p:grpSp>
      <p:grpSp>
        <p:nvGrpSpPr>
          <p:cNvPr id="5" name="cover-rule"/>
          <p:cNvGrpSpPr/>
          <p:nvPr/>
        </p:nvGrpSpPr>
        <p:grpSpPr>
          <a:xfrm>
            <a:off x="762000" y="1771650"/>
            <a:ext cx="1714500" cy="38100"/>
            <a:chOff x="762000" y="1771650"/>
            <a:chExt cx="1714500" cy="38100"/>
          </a:xfrm>
        </p:grpSpPr>
        <p:sp>
          <p:nvSpPr>
            <p:cNvPr id="4" name="Rectangle 4"/>
            <p:cNvSpPr/>
            <p:nvPr/>
          </p:nvSpPr>
          <p:spPr>
            <a:xfrm>
              <a:off x="762000" y="1771650"/>
              <a:ext cx="1714500" cy="38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over-title"/>
          <p:cNvGrpSpPr/>
          <p:nvPr/>
        </p:nvGrpSpPr>
        <p:grpSpPr>
          <a:xfrm>
            <a:off x="742950" y="2311400"/>
            <a:ext cx="4884420" cy="1676400"/>
            <a:chOff x="742950" y="2311400"/>
            <a:chExt cx="4884420" cy="1676400"/>
          </a:xfrm>
        </p:grpSpPr>
        <p:sp>
          <p:nvSpPr>
            <p:cNvPr id="6" name="TextBox 6"/>
            <p:cNvSpPr txBox="1"/>
            <p:nvPr/>
          </p:nvSpPr>
          <p:spPr>
            <a:xfrm>
              <a:off x="742950" y="2311400"/>
              <a:ext cx="427863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拉曼实验数据的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2950" y="3111500"/>
              <a:ext cx="488442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可解释性归因分析</a:t>
              </a:r>
            </a:p>
          </p:txBody>
        </p:sp>
      </p:grpSp>
      <p:grpSp>
        <p:nvGrpSpPr>
          <p:cNvPr id="11" name="cover-subtitle"/>
          <p:cNvGrpSpPr/>
          <p:nvPr/>
        </p:nvGrpSpPr>
        <p:grpSpPr>
          <a:xfrm>
            <a:off x="752094" y="4197350"/>
            <a:ext cx="6277220" cy="705231"/>
            <a:chOff x="752094" y="4197350"/>
            <a:chExt cx="6277220" cy="705231"/>
          </a:xfrm>
        </p:grpSpPr>
        <p:sp>
          <p:nvSpPr>
            <p:cNvPr id="9" name="TextBox 9"/>
            <p:cNvSpPr txBox="1"/>
            <p:nvPr/>
          </p:nvSpPr>
          <p:spPr>
            <a:xfrm>
              <a:off x="752094" y="4197350"/>
              <a:ext cx="527920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9CFDF"/>
                  </a:solidFill>
                  <a:latin typeface="+mn-lt"/>
                  <a:ea typeface="+mn-ea"/>
                  <a:cs typeface="+mn-cs"/>
                </a:rPr>
                <a:t>Gradient Boosting Regression + SHAP 归因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094" y="4521200"/>
              <a:ext cx="62772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9CFDF"/>
                  </a:solidFill>
                  <a:latin typeface="+mn-lt"/>
                  <a:ea typeface="+mn-ea"/>
                  <a:cs typeface="+mn-cs"/>
                </a:rPr>
                <a:t>数据集 Datanew-8.31 · 1023 条观测 · 4 个实验参数</a:t>
              </a:r>
            </a:p>
          </p:txBody>
        </p:sp>
      </p:grpSp>
      <p:grpSp>
        <p:nvGrpSpPr>
          <p:cNvPr id="17" name="cover-facts"/>
          <p:cNvGrpSpPr/>
          <p:nvPr/>
        </p:nvGrpSpPr>
        <p:grpSpPr>
          <a:xfrm>
            <a:off x="755142" y="5295900"/>
            <a:ext cx="10674858" cy="765683"/>
            <a:chOff x="755142" y="5295900"/>
            <a:chExt cx="10674858" cy="765683"/>
          </a:xfrm>
        </p:grpSpPr>
        <p:sp>
          <p:nvSpPr>
            <p:cNvPr id="12" name="Line 12"/>
            <p:cNvSpPr/>
            <p:nvPr/>
          </p:nvSpPr>
          <p:spPr>
            <a:xfrm>
              <a:off x="762000" y="5295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3D5E80">
                  <a:alpha val="60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5142" y="54737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FAFC8"/>
                  </a:solidFill>
                  <a:latin typeface="+mn-lt"/>
                  <a:ea typeface="+mn-ea"/>
                  <a:cs typeface="+mn-cs"/>
                </a:rPr>
                <a:t>汇报人：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7142" y="54737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4EDF4"/>
                  </a:solidFill>
                  <a:latin typeface="+mn-lt"/>
                  <a:ea typeface="+mn-ea"/>
                  <a:cs typeface="+mn-cs"/>
                </a:rPr>
                <a:t xml:space="preserve">　　　（请填写）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142" y="57975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FAFC8"/>
                  </a:solidFill>
                  <a:latin typeface="+mn-lt"/>
                  <a:ea typeface="+mn-ea"/>
                  <a:cs typeface="+mn-cs"/>
                </a:rPr>
                <a:t>日期　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7142" y="5797550"/>
              <a:ext cx="1140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4EDF4"/>
                  </a:solidFill>
                  <a:latin typeface="+mn-lt"/>
                  <a:ea typeface="+mn-ea"/>
                  <a:cs typeface="+mn-cs"/>
                </a:rPr>
                <a:t>2026 年 10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96900"/>
            <a:ext cx="4475988" cy="842264"/>
            <a:chOff x="745236" y="596900"/>
            <a:chExt cx="4475988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96900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汇报脉络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93750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五个问题，一条证据链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9065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1" name="toc-row-01"/>
          <p:cNvGrpSpPr/>
          <p:nvPr/>
        </p:nvGrpSpPr>
        <p:grpSpPr>
          <a:xfrm>
            <a:off x="762000" y="1847850"/>
            <a:ext cx="10668000" cy="781050"/>
            <a:chOff x="762000" y="1847850"/>
            <a:chExt cx="10668000" cy="781050"/>
          </a:xfrm>
        </p:grpSpPr>
        <p:sp>
          <p:nvSpPr>
            <p:cNvPr id="6" name="Rectangle 6"/>
            <p:cNvSpPr/>
            <p:nvPr/>
          </p:nvSpPr>
          <p:spPr>
            <a:xfrm>
              <a:off x="762000" y="1847850"/>
              <a:ext cx="10668000" cy="781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2218" y="198755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447800" y="2000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7256" y="19748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数据与修正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9923" y="2305050"/>
              <a:ext cx="332527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原始数据能直接用吗？——RSD 列必须先修正</a:t>
              </a:r>
            </a:p>
          </p:txBody>
        </p:sp>
      </p:grpSp>
      <p:grpSp>
        <p:nvGrpSpPr>
          <p:cNvPr id="17" name="toc-row-02"/>
          <p:cNvGrpSpPr/>
          <p:nvPr/>
        </p:nvGrpSpPr>
        <p:grpSpPr>
          <a:xfrm>
            <a:off x="762000" y="2762250"/>
            <a:ext cx="10668000" cy="781050"/>
            <a:chOff x="762000" y="2762250"/>
            <a:chExt cx="10668000" cy="781050"/>
          </a:xfrm>
        </p:grpSpPr>
        <p:sp>
          <p:nvSpPr>
            <p:cNvPr id="12" name="Rectangle 12"/>
            <p:cNvSpPr/>
            <p:nvPr/>
          </p:nvSpPr>
          <p:spPr>
            <a:xfrm>
              <a:off x="762000" y="2762250"/>
              <a:ext cx="10668000" cy="7810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2218" y="290195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447800" y="29146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67256" y="28892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模型与验证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69923" y="3219450"/>
              <a:ext cx="32179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R² = 0.995 是真实泛化，还是数据泄露？</a:t>
              </a:r>
            </a:p>
          </p:txBody>
        </p:sp>
      </p:grpSp>
      <p:grpSp>
        <p:nvGrpSpPr>
          <p:cNvPr id="23" name="toc-row-03"/>
          <p:cNvGrpSpPr/>
          <p:nvPr/>
        </p:nvGrpSpPr>
        <p:grpSpPr>
          <a:xfrm>
            <a:off x="762000" y="3676650"/>
            <a:ext cx="10668000" cy="781050"/>
            <a:chOff x="762000" y="3676650"/>
            <a:chExt cx="10668000" cy="781050"/>
          </a:xfrm>
        </p:grpSpPr>
        <p:sp>
          <p:nvSpPr>
            <p:cNvPr id="18" name="Rectangle 18"/>
            <p:cNvSpPr/>
            <p:nvPr/>
          </p:nvSpPr>
          <p:spPr>
            <a:xfrm>
              <a:off x="762000" y="3676650"/>
              <a:ext cx="10668000" cy="781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81635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447800" y="38290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667256" y="3803650"/>
              <a:ext cx="11750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SHAP 归因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69923" y="4133850"/>
              <a:ext cx="38210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哪个参数最重要？——信号强度与稳定性的驱动因子</a:t>
              </a:r>
            </a:p>
          </p:txBody>
        </p:sp>
      </p:grpSp>
      <p:grpSp>
        <p:nvGrpSpPr>
          <p:cNvPr id="29" name="toc-row-04"/>
          <p:cNvGrpSpPr/>
          <p:nvPr/>
        </p:nvGrpSpPr>
        <p:grpSpPr>
          <a:xfrm>
            <a:off x="762000" y="4591050"/>
            <a:ext cx="10668000" cy="781050"/>
            <a:chOff x="762000" y="4591050"/>
            <a:chExt cx="10668000" cy="781050"/>
          </a:xfrm>
        </p:grpSpPr>
        <p:sp>
          <p:nvSpPr>
            <p:cNvPr id="24" name="Rectangle 24"/>
            <p:cNvSpPr/>
            <p:nvPr/>
          </p:nvSpPr>
          <p:spPr>
            <a:xfrm>
              <a:off x="762000" y="4591050"/>
              <a:ext cx="10668000" cy="7810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82218" y="473075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1447800" y="47434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667256" y="47180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交互与局部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69923" y="5048250"/>
              <a:ext cx="38210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参数之间互相影响吗？——流速与浓度、时间的关系</a:t>
              </a:r>
            </a:p>
          </p:txBody>
        </p:sp>
      </p:grpSp>
      <p:grpSp>
        <p:nvGrpSpPr>
          <p:cNvPr id="35" name="toc-row-05"/>
          <p:cNvGrpSpPr/>
          <p:nvPr/>
        </p:nvGrpSpPr>
        <p:grpSpPr>
          <a:xfrm>
            <a:off x="762000" y="5505450"/>
            <a:ext cx="10668000" cy="781050"/>
            <a:chOff x="762000" y="5505450"/>
            <a:chExt cx="10668000" cy="781050"/>
          </a:xfrm>
        </p:grpSpPr>
        <p:sp>
          <p:nvSpPr>
            <p:cNvPr id="30" name="Rectangle 30"/>
            <p:cNvSpPr/>
            <p:nvPr/>
          </p:nvSpPr>
          <p:spPr>
            <a:xfrm>
              <a:off x="762000" y="5505450"/>
              <a:ext cx="10668000" cy="781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2218" y="5645150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1447800" y="56578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67256" y="56324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结论与建议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69923" y="5962650"/>
              <a:ext cx="347645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下一轮实验怎么设计？——参数范围与重复次数</a:t>
              </a:r>
            </a:p>
          </p:txBody>
        </p:sp>
      </p:grpSp>
      <p:grpSp>
        <p:nvGrpSpPr>
          <p:cNvPr id="38" name="page-footer"/>
          <p:cNvGrpSpPr/>
          <p:nvPr/>
        </p:nvGrpSpPr>
        <p:grpSpPr>
          <a:xfrm>
            <a:off x="757047" y="6553200"/>
            <a:ext cx="10480126" cy="191643"/>
            <a:chOff x="757047" y="6553200"/>
            <a:chExt cx="10480126" cy="191643"/>
          </a:xfrm>
        </p:grpSpPr>
        <p:sp>
          <p:nvSpPr>
            <p:cNvPr id="36" name="TextBox 36"/>
            <p:cNvSpPr txBox="1"/>
            <p:nvPr/>
          </p:nvSpPr>
          <p:spPr>
            <a:xfrm>
              <a:off x="757047" y="6553200"/>
              <a:ext cx="17194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拉曼实验数据 SHAP 归因分析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82147" y="655320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77850"/>
            <a:ext cx="6974872" cy="842264"/>
            <a:chOff x="745236" y="577850"/>
            <a:chExt cx="6974872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77850"/>
              <a:ext cx="1055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01 数据与修正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74700"/>
              <a:ext cx="69748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1023 条观测覆盖四参数全因子设计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7160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22" name="param-card-laser"/>
          <p:cNvGrpSpPr/>
          <p:nvPr/>
        </p:nvGrpSpPr>
        <p:grpSpPr>
          <a:xfrm>
            <a:off x="762000" y="1771650"/>
            <a:ext cx="2476500" cy="2057400"/>
            <a:chOff x="762000" y="1771650"/>
            <a:chExt cx="2476500" cy="2057400"/>
          </a:xfrm>
        </p:grpSpPr>
        <p:sp>
          <p:nvSpPr>
            <p:cNvPr id="6" name="Rectangle 6"/>
            <p:cNvSpPr/>
            <p:nvPr/>
          </p:nvSpPr>
          <p:spPr>
            <a:xfrm>
              <a:off x="762000" y="1771650"/>
              <a:ext cx="2476500" cy="2057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28700" y="2038350"/>
              <a:ext cx="228599" cy="228599"/>
              <a:chOff x="1028700" y="2038350"/>
              <a:chExt cx="228599" cy="2285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54100" y="206375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165100" y="0"/>
                    </a:lnTo>
                    <a:cubicBezTo>
                      <a:pt x="172114" y="0"/>
                      <a:pt x="177800" y="5686"/>
                      <a:pt x="177800" y="12700"/>
                    </a:cubicBezTo>
                    <a:lnTo>
                      <a:pt x="177800" y="165100"/>
                    </a:lnTo>
                    <a:cubicBezTo>
                      <a:pt x="177800" y="172114"/>
                      <a:pt x="172114" y="177800"/>
                      <a:pt x="165100" y="177800"/>
                    </a:cubicBezTo>
                    <a:lnTo>
                      <a:pt x="12700" y="177800"/>
                    </a:lnTo>
                    <a:cubicBezTo>
                      <a:pt x="5686" y="177800"/>
                      <a:pt x="0" y="172114"/>
                      <a:pt x="0" y="1651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04900" y="21145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76200"/>
                    </a:lnTo>
                    <a:lnTo>
                      <a:pt x="0" y="762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28700" y="21272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28700" y="21780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17600" y="20383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68400" y="20383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31899" y="21272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31899" y="21780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68400" y="224154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17600" y="224154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982218" y="24447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激光功率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5266" y="2768600"/>
              <a:ext cx="86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laser_power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2980" y="3098800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10 / 30 / 50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4504" y="3390900"/>
              <a:ext cx="755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mW · 3 档</a:t>
              </a:r>
            </a:p>
          </p:txBody>
        </p:sp>
      </p:grpSp>
      <p:grpSp>
        <p:nvGrpSpPr>
          <p:cNvPr id="32" name="param-card-conc"/>
          <p:cNvGrpSpPr/>
          <p:nvPr/>
        </p:nvGrpSpPr>
        <p:grpSpPr>
          <a:xfrm>
            <a:off x="3467100" y="1771650"/>
            <a:ext cx="2476500" cy="2057400"/>
            <a:chOff x="3467100" y="1771650"/>
            <a:chExt cx="2476500" cy="2057400"/>
          </a:xfrm>
        </p:grpSpPr>
        <p:sp>
          <p:nvSpPr>
            <p:cNvPr id="23" name="Rectangle 23"/>
            <p:cNvSpPr/>
            <p:nvPr/>
          </p:nvSpPr>
          <p:spPr>
            <a:xfrm>
              <a:off x="3467100" y="1771650"/>
              <a:ext cx="2476500" cy="2057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3770658" y="2038350"/>
              <a:ext cx="154884" cy="228599"/>
              <a:chOff x="3770658" y="2038350"/>
              <a:chExt cx="154884" cy="22859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810000" y="20383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822700" y="21145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770658" y="2038350"/>
                <a:ext cx="154884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54884" h="228599">
                    <a:moveTo>
                      <a:pt x="52042" y="0"/>
                    </a:moveTo>
                    <a:lnTo>
                      <a:pt x="52042" y="76200"/>
                    </a:lnTo>
                    <a:lnTo>
                      <a:pt x="1242" y="215899"/>
                    </a:lnTo>
                    <a:cubicBezTo>
                      <a:pt x="0" y="218399"/>
                      <a:pt x="3" y="221336"/>
                      <a:pt x="1252" y="223832"/>
                    </a:cubicBezTo>
                    <a:cubicBezTo>
                      <a:pt x="2500" y="226329"/>
                      <a:pt x="4848" y="228094"/>
                      <a:pt x="7592" y="228599"/>
                    </a:cubicBezTo>
                    <a:lnTo>
                      <a:pt x="147292" y="228599"/>
                    </a:lnTo>
                    <a:cubicBezTo>
                      <a:pt x="150037" y="228094"/>
                      <a:pt x="152385" y="226329"/>
                      <a:pt x="153633" y="223832"/>
                    </a:cubicBezTo>
                    <a:cubicBezTo>
                      <a:pt x="154881" y="221336"/>
                      <a:pt x="154884" y="218399"/>
                      <a:pt x="153642" y="215899"/>
                    </a:cubicBezTo>
                    <a:lnTo>
                      <a:pt x="102842" y="76200"/>
                    </a:lnTo>
                    <a:lnTo>
                      <a:pt x="102842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3687318" y="24447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浓度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90366" y="2768600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concentration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88080" y="3098800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 – 160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89604" y="3390900"/>
              <a:ext cx="721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pM · 6 档</a:t>
              </a:r>
            </a:p>
          </p:txBody>
        </p:sp>
      </p:grpSp>
      <p:grpSp>
        <p:nvGrpSpPr>
          <p:cNvPr id="43" name="param-card-time"/>
          <p:cNvGrpSpPr/>
          <p:nvPr/>
        </p:nvGrpSpPr>
        <p:grpSpPr>
          <a:xfrm>
            <a:off x="6172200" y="1771650"/>
            <a:ext cx="2476500" cy="2057400"/>
            <a:chOff x="6172200" y="1771650"/>
            <a:chExt cx="2476500" cy="2057400"/>
          </a:xfrm>
        </p:grpSpPr>
        <p:sp>
          <p:nvSpPr>
            <p:cNvPr id="33" name="Rectangle 33"/>
            <p:cNvSpPr/>
            <p:nvPr/>
          </p:nvSpPr>
          <p:spPr>
            <a:xfrm>
              <a:off x="6172200" y="1771650"/>
              <a:ext cx="2476500" cy="2057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438900" y="2051050"/>
              <a:ext cx="228600" cy="212724"/>
              <a:chOff x="6438900" y="2051050"/>
              <a:chExt cx="228600" cy="21272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438900" y="215265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91300" y="210185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15100" y="2051050"/>
                <a:ext cx="762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199"/>
                      <a:pt x="635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51600" y="2254249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392418" y="24447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采集时间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95466" y="276860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acq_time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93180" y="3098800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 – 5.0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94704" y="3390900"/>
              <a:ext cx="585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 · 7 档</a:t>
              </a:r>
            </a:p>
          </p:txBody>
        </p:sp>
      </p:grpSp>
      <p:grpSp>
        <p:nvGrpSpPr>
          <p:cNvPr id="53" name="param-card-flow"/>
          <p:cNvGrpSpPr/>
          <p:nvPr/>
        </p:nvGrpSpPr>
        <p:grpSpPr>
          <a:xfrm>
            <a:off x="8877300" y="1771650"/>
            <a:ext cx="2552700" cy="2057400"/>
            <a:chOff x="8877300" y="1771650"/>
            <a:chExt cx="2552700" cy="2057400"/>
          </a:xfrm>
        </p:grpSpPr>
        <p:sp>
          <p:nvSpPr>
            <p:cNvPr id="44" name="Rectangle 44"/>
            <p:cNvSpPr/>
            <p:nvPr/>
          </p:nvSpPr>
          <p:spPr>
            <a:xfrm>
              <a:off x="8877300" y="1771650"/>
              <a:ext cx="25527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144000" y="2038350"/>
              <a:ext cx="228599" cy="228599"/>
              <a:chOff x="9144000" y="2038350"/>
              <a:chExt cx="228599" cy="228599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9144000" y="221614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321799" y="20383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169400" y="206375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097518" y="24447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00566" y="276860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BD3"/>
                  </a:solidFill>
                  <a:latin typeface="Consolas"/>
                  <a:ea typeface="Consolas"/>
                  <a:cs typeface="Consolas"/>
                </a:rPr>
                <a:t>flow_rate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98280" y="3098800"/>
              <a:ext cx="903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– 1280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99804" y="3390900"/>
              <a:ext cx="1121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FBBD3"/>
                  </a:solidFill>
                  <a:latin typeface="+mn-lt"/>
                  <a:ea typeface="+mn-ea"/>
                  <a:cs typeface="+mn-cs"/>
                </a:rPr>
                <a:t>μL/min · 10 档</a:t>
              </a:r>
            </a:p>
          </p:txBody>
        </p:sp>
      </p:grpSp>
      <p:grpSp>
        <p:nvGrpSpPr>
          <p:cNvPr id="68" name="stats-band"/>
          <p:cNvGrpSpPr/>
          <p:nvPr/>
        </p:nvGrpSpPr>
        <p:grpSpPr>
          <a:xfrm>
            <a:off x="762000" y="4191000"/>
            <a:ext cx="10668000" cy="1238250"/>
            <a:chOff x="762000" y="4191000"/>
            <a:chExt cx="10668000" cy="1238250"/>
          </a:xfrm>
        </p:grpSpPr>
        <p:sp>
          <p:nvSpPr>
            <p:cNvPr id="54" name="Rectangle 54"/>
            <p:cNvSpPr/>
            <p:nvPr/>
          </p:nvSpPr>
          <p:spPr>
            <a:xfrm>
              <a:off x="762000" y="4191000"/>
              <a:ext cx="10668000" cy="1238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62000" y="41910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61085" y="4413250"/>
              <a:ext cx="846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数据集规模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9274" y="4648200"/>
              <a:ext cx="105681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1023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0704" y="51625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总观测行数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3314700" y="4495800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40074" y="4648200"/>
              <a:ext cx="105681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1023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651504" y="51625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唯一参数组合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5905500" y="4495800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30874" y="4648200"/>
              <a:ext cx="105681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1260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42304" y="51625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理论全因子组合数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8496300" y="4495800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821674" y="4648200"/>
              <a:ext cx="105681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1.00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33104" y="51625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每组合平均测量次数</a:t>
              </a:r>
            </a:p>
          </p:txBody>
        </p:sp>
      </p:grpSp>
      <p:grpSp>
        <p:nvGrpSpPr>
          <p:cNvPr id="71" name="stats-note"/>
          <p:cNvGrpSpPr/>
          <p:nvPr/>
        </p:nvGrpSpPr>
        <p:grpSpPr>
          <a:xfrm>
            <a:off x="762000" y="5657850"/>
            <a:ext cx="10668000" cy="419100"/>
            <a:chOff x="762000" y="5657850"/>
            <a:chExt cx="10668000" cy="419100"/>
          </a:xfrm>
        </p:grpSpPr>
        <p:sp>
          <p:nvSpPr>
            <p:cNvPr id="69" name="Rectangle 69"/>
            <p:cNvSpPr/>
            <p:nvPr/>
          </p:nvSpPr>
          <p:spPr>
            <a:xfrm>
              <a:off x="762000" y="5657850"/>
              <a:ext cx="10668000" cy="419100"/>
            </a:xfrm>
            <a:prstGeom prst="rect">
              <a:avLst/>
            </a:prstGeom>
            <a:solidFill>
              <a:schemeClr val="accent2">
                <a:alpha val="7000"/>
              </a:scheme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5642" y="5759450"/>
              <a:ext cx="66834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每个实验条件</a:t>
              </a:r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只有一次测量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—— 这决定了后续必须用分组交叉验证而非普通随机划分</a:t>
              </a:r>
            </a:p>
          </p:txBody>
        </p:sp>
      </p:grpSp>
      <p:grpSp>
        <p:nvGrpSpPr>
          <p:cNvPr id="74" name="page-footer"/>
          <p:cNvGrpSpPr/>
          <p:nvPr/>
        </p:nvGrpSpPr>
        <p:grpSpPr>
          <a:xfrm>
            <a:off x="757047" y="6553200"/>
            <a:ext cx="10480126" cy="191643"/>
            <a:chOff x="757047" y="6553200"/>
            <a:chExt cx="10480126" cy="191643"/>
          </a:xfrm>
        </p:grpSpPr>
        <p:sp>
          <p:nvSpPr>
            <p:cNvPr id="72" name="TextBox 72"/>
            <p:cNvSpPr txBox="1"/>
            <p:nvPr/>
          </p:nvSpPr>
          <p:spPr>
            <a:xfrm>
              <a:off x="757047" y="6553200"/>
              <a:ext cx="34859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数据来源：Datanew-8.31.xlsx（3 个 laser sheet 合并）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082147" y="655320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77850"/>
            <a:ext cx="9138895" cy="842264"/>
            <a:chOff x="745236" y="577850"/>
            <a:chExt cx="9138895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77850"/>
              <a:ext cx="1055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01 数据与修正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74700"/>
              <a:ext cx="913889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原始 RSD 列其实是标准差，不修正模型会失真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7160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5" name="problem-card"/>
          <p:cNvGrpSpPr/>
          <p:nvPr/>
        </p:nvGrpSpPr>
        <p:grpSpPr>
          <a:xfrm>
            <a:off x="762000" y="1809750"/>
            <a:ext cx="10668000" cy="1219200"/>
            <a:chOff x="762000" y="1809750"/>
            <a:chExt cx="10668000" cy="1219200"/>
          </a:xfrm>
        </p:grpSpPr>
        <p:sp>
          <p:nvSpPr>
            <p:cNvPr id="6" name="Rectangle 6"/>
            <p:cNvSpPr/>
            <p:nvPr/>
          </p:nvSpPr>
          <p:spPr>
            <a:xfrm>
              <a:off x="762000" y="1809750"/>
              <a:ext cx="10668000" cy="1219200"/>
            </a:xfrm>
            <a:prstGeom prst="rect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809750"/>
              <a:ext cx="38100" cy="1219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97199" y="2156901"/>
              <a:ext cx="320191" cy="275086"/>
              <a:chOff x="1097199" y="2156901"/>
              <a:chExt cx="320191" cy="27508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57300" y="22574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97199" y="2156901"/>
                <a:ext cx="320191" cy="275086"/>
              </a:xfrm>
              <a:custGeom>
                <a:avLst/>
                <a:gdLst/>
                <a:ahLst/>
                <a:cxnLst/>
                <a:rect l="l" t="t" r="r" b="b"/>
                <a:pathLst>
                  <a:path w="320191" h="275086">
                    <a:moveTo>
                      <a:pt x="134114" y="14656"/>
                    </a:moveTo>
                    <a:lnTo>
                      <a:pt x="5431" y="229509"/>
                    </a:lnTo>
                    <a:cubicBezTo>
                      <a:pt x="33" y="238857"/>
                      <a:pt x="0" y="250368"/>
                      <a:pt x="5345" y="259747"/>
                    </a:cubicBezTo>
                    <a:cubicBezTo>
                      <a:pt x="10689" y="269126"/>
                      <a:pt x="20608" y="274965"/>
                      <a:pt x="31403" y="275086"/>
                    </a:cubicBezTo>
                    <a:lnTo>
                      <a:pt x="288800" y="275086"/>
                    </a:lnTo>
                    <a:cubicBezTo>
                      <a:pt x="299590" y="274962"/>
                      <a:pt x="309504" y="269125"/>
                      <a:pt x="314847" y="259751"/>
                    </a:cubicBezTo>
                    <a:cubicBezTo>
                      <a:pt x="320191" y="250377"/>
                      <a:pt x="320162" y="238872"/>
                      <a:pt x="314772" y="229525"/>
                    </a:cubicBezTo>
                    <a:lnTo>
                      <a:pt x="186089" y="14640"/>
                    </a:lnTo>
                    <a:cubicBezTo>
                      <a:pt x="180583" y="5552"/>
                      <a:pt x="170728" y="0"/>
                      <a:pt x="160102" y="0"/>
                    </a:cubicBezTo>
                    <a:cubicBezTo>
                      <a:pt x="149475" y="0"/>
                      <a:pt x="139620" y="5552"/>
                      <a:pt x="134114" y="1464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57300" y="23685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669923" y="2095500"/>
              <a:ext cx="7627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数据问题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7256" y="2374900"/>
              <a:ext cx="81061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原始数据的 RSD 列记录的是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重复计数的标准差（误差棒）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，不是相对标准差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9542" y="2711450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若直接作为分析目标，模型会把「信号本身的大小」误当作「相对波动」来解释</a:t>
              </a:r>
            </a:p>
          </p:txBody>
        </p:sp>
      </p:grpSp>
      <p:grpSp>
        <p:nvGrpSpPr>
          <p:cNvPr id="19" name="formula-band"/>
          <p:cNvGrpSpPr/>
          <p:nvPr/>
        </p:nvGrpSpPr>
        <p:grpSpPr>
          <a:xfrm>
            <a:off x="762000" y="3333750"/>
            <a:ext cx="10668000" cy="1104900"/>
            <a:chOff x="762000" y="3333750"/>
            <a:chExt cx="10668000" cy="1104900"/>
          </a:xfrm>
        </p:grpSpPr>
        <p:sp>
          <p:nvSpPr>
            <p:cNvPr id="16" name="Rectangle 16"/>
            <p:cNvSpPr/>
            <p:nvPr/>
          </p:nvSpPr>
          <p:spPr>
            <a:xfrm>
              <a:off x="762000" y="3333750"/>
              <a:ext cx="10668000" cy="1104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61085" y="3517900"/>
              <a:ext cx="675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9FBBD3"/>
                  </a:solidFill>
                  <a:latin typeface="+mn-lt"/>
                  <a:ea typeface="+mn-ea"/>
                  <a:cs typeface="+mn-cs"/>
                </a:rPr>
                <a:t>修正公式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3846" y="3867150"/>
              <a:ext cx="73892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rsd_corrected = rsd_raw / raman_average</a:t>
              </a:r>
            </a:p>
          </p:txBody>
        </p:sp>
      </p:grpSp>
      <p:grpSp>
        <p:nvGrpSpPr>
          <p:cNvPr id="24" name="result-card"/>
          <p:cNvGrpSpPr/>
          <p:nvPr/>
        </p:nvGrpSpPr>
        <p:grpSpPr>
          <a:xfrm>
            <a:off x="762000" y="4743450"/>
            <a:ext cx="10668000" cy="1028700"/>
            <a:chOff x="762000" y="4743450"/>
            <a:chExt cx="10668000" cy="1028700"/>
          </a:xfrm>
        </p:grpSpPr>
        <p:sp>
          <p:nvSpPr>
            <p:cNvPr id="20" name="Rectangle 20"/>
            <p:cNvSpPr/>
            <p:nvPr/>
          </p:nvSpPr>
          <p:spPr>
            <a:xfrm>
              <a:off x="762000" y="4743450"/>
              <a:ext cx="10668000" cy="1028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138238" y="51863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69923" y="4972050"/>
              <a:ext cx="7627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spc="1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修正结果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68018" y="5264150"/>
              <a:ext cx="63089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修正后 RSD 为无量纲小数，中位数 </a:t>
              </a:r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0.045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，范围 </a:t>
              </a:r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0.001 – 0.48</a:t>
              </a:r>
            </a:p>
          </p:txBody>
        </p:sp>
      </p:grpSp>
      <p:grpSp>
        <p:nvGrpSpPr>
          <p:cNvPr id="26" name="footnote"/>
          <p:cNvGrpSpPr/>
          <p:nvPr/>
        </p:nvGrpSpPr>
        <p:grpSpPr>
          <a:xfrm>
            <a:off x="755523" y="6038850"/>
            <a:ext cx="4110116" cy="250317"/>
            <a:chOff x="755523" y="6038850"/>
            <a:chExt cx="4110116" cy="250317"/>
          </a:xfrm>
        </p:grpSpPr>
        <p:sp>
          <p:nvSpPr>
            <p:cNvPr id="25" name="TextBox 25"/>
            <p:cNvSpPr txBox="1"/>
            <p:nvPr/>
          </p:nvSpPr>
          <p:spPr>
            <a:xfrm>
              <a:off x="755523" y="6038850"/>
              <a:ext cx="41101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此修正是后续所有 RSD 分析（子集 3、4）成立的前提</a:t>
              </a:r>
            </a:p>
          </p:txBody>
        </p:sp>
      </p:grpSp>
      <p:grpSp>
        <p:nvGrpSpPr>
          <p:cNvPr id="29" name="page-footer"/>
          <p:cNvGrpSpPr/>
          <p:nvPr/>
        </p:nvGrpSpPr>
        <p:grpSpPr>
          <a:xfrm>
            <a:off x="757047" y="6553200"/>
            <a:ext cx="10480126" cy="191643"/>
            <a:chOff x="757047" y="6553200"/>
            <a:chExt cx="10480126" cy="191643"/>
          </a:xfrm>
        </p:grpSpPr>
        <p:sp>
          <p:nvSpPr>
            <p:cNvPr id="27" name="TextBox 27"/>
            <p:cNvSpPr txBox="1"/>
            <p:nvPr/>
          </p:nvSpPr>
          <p:spPr>
            <a:xfrm>
              <a:off x="757047" y="65532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数据预处理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82147" y="655320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77850"/>
            <a:ext cx="7141464" cy="842264"/>
            <a:chOff x="745236" y="577850"/>
            <a:chExt cx="7141464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77850"/>
              <a:ext cx="1055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01 数据与修正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7470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四个子集分别检验信号强度与稳定性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7160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axis-labels"/>
          <p:cNvGrpSpPr/>
          <p:nvPr/>
        </p:nvGrpSpPr>
        <p:grpSpPr>
          <a:xfrm>
            <a:off x="755904" y="1733550"/>
            <a:ext cx="6947375" cy="234696"/>
            <a:chOff x="755904" y="1733550"/>
            <a:chExt cx="6947375" cy="234696"/>
          </a:xfrm>
        </p:grpSpPr>
        <p:sp>
          <p:nvSpPr>
            <p:cNvPr id="6" name="TextBox 6"/>
            <p:cNvSpPr txBox="1"/>
            <p:nvPr/>
          </p:nvSpPr>
          <p:spPr>
            <a:xfrm>
              <a:off x="755904" y="1733550"/>
              <a:ext cx="25512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预测信号强度（raman_average）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80404" y="1733550"/>
              <a:ext cx="1422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预测稳定性（rsd）</a:t>
              </a:r>
            </a:p>
          </p:txBody>
        </p:sp>
      </p:grpSp>
      <p:grpSp>
        <p:nvGrpSpPr>
          <p:cNvPr id="17" name="subset-1"/>
          <p:cNvGrpSpPr/>
          <p:nvPr/>
        </p:nvGrpSpPr>
        <p:grpSpPr>
          <a:xfrm>
            <a:off x="762000" y="2057400"/>
            <a:ext cx="5219700" cy="1771650"/>
            <a:chOff x="762000" y="2057400"/>
            <a:chExt cx="5219700" cy="1771650"/>
          </a:xfrm>
        </p:grpSpPr>
        <p:sp>
          <p:nvSpPr>
            <p:cNvPr id="9" name="Rectangle 9"/>
            <p:cNvSpPr/>
            <p:nvPr/>
          </p:nvSpPr>
          <p:spPr>
            <a:xfrm>
              <a:off x="762000" y="2057400"/>
              <a:ext cx="5219700" cy="17716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2985" y="227965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SUBSET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8794" y="2540000"/>
              <a:ext cx="12463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1_avg_all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028700" y="29337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1842" y="30543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筛选规则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79142" y="30543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全数据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1842" y="33782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样本数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78380" y="336550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1023</a:t>
              </a:r>
            </a:p>
          </p:txBody>
        </p:sp>
      </p:grpSp>
      <p:grpSp>
        <p:nvGrpSpPr>
          <p:cNvPr id="27" name="subset-2"/>
          <p:cNvGrpSpPr/>
          <p:nvPr/>
        </p:nvGrpSpPr>
        <p:grpSpPr>
          <a:xfrm>
            <a:off x="6210300" y="2057400"/>
            <a:ext cx="5219700" cy="1771650"/>
            <a:chOff x="6210300" y="2057400"/>
            <a:chExt cx="5219700" cy="1771650"/>
          </a:xfrm>
        </p:grpSpPr>
        <p:sp>
          <p:nvSpPr>
            <p:cNvPr id="18" name="Rectangle 18"/>
            <p:cNvSpPr/>
            <p:nvPr/>
          </p:nvSpPr>
          <p:spPr>
            <a:xfrm>
              <a:off x="6210300" y="2057400"/>
              <a:ext cx="5219700" cy="17716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71285" y="227965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SUBSET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7094" y="2540000"/>
              <a:ext cx="18389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2_avg_rsd015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477000" y="29337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70142" y="30543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筛选规则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27442" y="3054350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rsd &lt; 0.15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37523" y="30670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低噪子集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0142" y="33782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样本数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26680" y="3365500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940</a:t>
              </a:r>
            </a:p>
          </p:txBody>
        </p:sp>
      </p:grpSp>
      <p:grpSp>
        <p:nvGrpSpPr>
          <p:cNvPr id="36" name="subset-3"/>
          <p:cNvGrpSpPr/>
          <p:nvPr/>
        </p:nvGrpSpPr>
        <p:grpSpPr>
          <a:xfrm>
            <a:off x="762000" y="4057650"/>
            <a:ext cx="5219700" cy="1771650"/>
            <a:chOff x="762000" y="4057650"/>
            <a:chExt cx="5219700" cy="1771650"/>
          </a:xfrm>
        </p:grpSpPr>
        <p:sp>
          <p:nvSpPr>
            <p:cNvPr id="28" name="Rectangle 28"/>
            <p:cNvSpPr/>
            <p:nvPr/>
          </p:nvSpPr>
          <p:spPr>
            <a:xfrm>
              <a:off x="762000" y="4057650"/>
              <a:ext cx="5219700" cy="1771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22985" y="427990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BD3"/>
                  </a:solidFill>
                  <a:latin typeface="Consolas"/>
                  <a:ea typeface="Consolas"/>
                  <a:cs typeface="Consolas"/>
                </a:rPr>
                <a:t>SUBSET 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8794" y="4540250"/>
              <a:ext cx="12463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3_rsd_all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1028700" y="49339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rgbClr val="3D5E8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21842" y="50546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FBBD3"/>
                  </a:solidFill>
                  <a:latin typeface="+mn-lt"/>
                  <a:ea typeface="+mn-ea"/>
                  <a:cs typeface="+mn-cs"/>
                </a:rPr>
                <a:t>筛选规则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79142" y="50546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全数据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1842" y="53784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FBBD3"/>
                  </a:solidFill>
                  <a:latin typeface="+mn-lt"/>
                  <a:ea typeface="+mn-ea"/>
                  <a:cs typeface="+mn-cs"/>
                </a:rPr>
                <a:t>样本数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78380" y="536575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1023</a:t>
              </a:r>
            </a:p>
          </p:txBody>
        </p:sp>
      </p:grpSp>
      <p:grpSp>
        <p:nvGrpSpPr>
          <p:cNvPr id="46" name="subset-4"/>
          <p:cNvGrpSpPr/>
          <p:nvPr/>
        </p:nvGrpSpPr>
        <p:grpSpPr>
          <a:xfrm>
            <a:off x="6210300" y="4057650"/>
            <a:ext cx="5219700" cy="1771650"/>
            <a:chOff x="6210300" y="4057650"/>
            <a:chExt cx="5219700" cy="1771650"/>
          </a:xfrm>
        </p:grpSpPr>
        <p:sp>
          <p:nvSpPr>
            <p:cNvPr id="37" name="Rectangle 37"/>
            <p:cNvSpPr/>
            <p:nvPr/>
          </p:nvSpPr>
          <p:spPr>
            <a:xfrm>
              <a:off x="6210300" y="4057650"/>
              <a:ext cx="5219700" cy="1771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71285" y="427990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BD3"/>
                  </a:solidFill>
                  <a:latin typeface="Consolas"/>
                  <a:ea typeface="Consolas"/>
                  <a:cs typeface="Consolas"/>
                </a:rPr>
                <a:t>SUBSET 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7094" y="4540250"/>
              <a:ext cx="18527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4_rsd_filt030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477000" y="49339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rgbClr val="3D5E8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70142" y="50546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FBBD3"/>
                  </a:solidFill>
                  <a:latin typeface="+mn-lt"/>
                  <a:ea typeface="+mn-ea"/>
                  <a:cs typeface="+mn-cs"/>
                </a:rPr>
                <a:t>筛选规则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27442" y="5054600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rsd &lt; 0.30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37523" y="5067300"/>
              <a:ext cx="11118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FBBD3"/>
                  </a:solidFill>
                  <a:latin typeface="+mn-lt"/>
                  <a:ea typeface="+mn-ea"/>
                  <a:cs typeface="+mn-cs"/>
                </a:rPr>
                <a:t>剔高 RSD 异常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70142" y="53784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FBBD3"/>
                  </a:solidFill>
                  <a:latin typeface="+mn-lt"/>
                  <a:ea typeface="+mn-ea"/>
                  <a:cs typeface="+mn-cs"/>
                </a:rPr>
                <a:t>样本数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26680" y="536575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1011</a:t>
              </a:r>
            </a:p>
          </p:txBody>
        </p:sp>
      </p:grpSp>
      <p:grpSp>
        <p:nvGrpSpPr>
          <p:cNvPr id="49" name="page-footer"/>
          <p:cNvGrpSpPr/>
          <p:nvPr/>
        </p:nvGrpSpPr>
        <p:grpSpPr>
          <a:xfrm>
            <a:off x="757047" y="6553200"/>
            <a:ext cx="10480126" cy="191643"/>
            <a:chOff x="757047" y="6553200"/>
            <a:chExt cx="10480126" cy="191643"/>
          </a:xfrm>
        </p:grpSpPr>
        <p:sp>
          <p:nvSpPr>
            <p:cNvPr id="47" name="TextBox 47"/>
            <p:cNvSpPr txBox="1"/>
            <p:nvPr/>
          </p:nvSpPr>
          <p:spPr>
            <a:xfrm>
              <a:off x="757047" y="65532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分析子集定义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82147" y="655320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77850"/>
            <a:ext cx="5364480" cy="842264"/>
            <a:chOff x="745236" y="577850"/>
            <a:chExt cx="5364480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77850"/>
              <a:ext cx="1055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02 模型与验证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7470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梯度提升全面优于线性模型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7160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1" name="table-head"/>
          <p:cNvGrpSpPr/>
          <p:nvPr/>
        </p:nvGrpSpPr>
        <p:grpSpPr>
          <a:xfrm>
            <a:off x="762000" y="1771650"/>
            <a:ext cx="10668000" cy="457200"/>
            <a:chOff x="762000" y="1771650"/>
            <a:chExt cx="10668000" cy="457200"/>
          </a:xfrm>
        </p:grpSpPr>
        <p:sp>
          <p:nvSpPr>
            <p:cNvPr id="6" name="Rectangle 6"/>
            <p:cNvSpPr/>
            <p:nvPr/>
          </p:nvSpPr>
          <p:spPr>
            <a:xfrm>
              <a:off x="762000" y="1771650"/>
              <a:ext cx="106680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9942" y="19018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0642" y="1901825"/>
              <a:ext cx="771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Train R²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65642" y="1901825"/>
              <a:ext cx="716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Test R²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75392" y="19018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差距</a:t>
              </a:r>
            </a:p>
          </p:txBody>
        </p:sp>
      </p:grpSp>
      <p:grpSp>
        <p:nvGrpSpPr>
          <p:cNvPr id="17" name="row-linear"/>
          <p:cNvGrpSpPr/>
          <p:nvPr/>
        </p:nvGrpSpPr>
        <p:grpSpPr>
          <a:xfrm>
            <a:off x="762000" y="2228850"/>
            <a:ext cx="10668000" cy="514350"/>
            <a:chOff x="762000" y="2228850"/>
            <a:chExt cx="10668000" cy="514350"/>
          </a:xfrm>
        </p:grpSpPr>
        <p:sp>
          <p:nvSpPr>
            <p:cNvPr id="12" name="Rectangle 12"/>
            <p:cNvSpPr/>
            <p:nvPr/>
          </p:nvSpPr>
          <p:spPr>
            <a:xfrm>
              <a:off x="762000" y="2228850"/>
              <a:ext cx="106680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9180" y="2374900"/>
              <a:ext cx="25718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线性回归 LinearRegression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9880" y="23749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0.581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64880" y="23749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0.651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74630" y="237490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−0.070</a:t>
              </a:r>
            </a:p>
          </p:txBody>
        </p:sp>
      </p:grpSp>
      <p:grpSp>
        <p:nvGrpSpPr>
          <p:cNvPr id="23" name="row-ridge"/>
          <p:cNvGrpSpPr/>
          <p:nvPr/>
        </p:nvGrpSpPr>
        <p:grpSpPr>
          <a:xfrm>
            <a:off x="762000" y="2743200"/>
            <a:ext cx="10668000" cy="514350"/>
            <a:chOff x="762000" y="2743200"/>
            <a:chExt cx="10668000" cy="514350"/>
          </a:xfrm>
        </p:grpSpPr>
        <p:sp>
          <p:nvSpPr>
            <p:cNvPr id="18" name="Rectangle 18"/>
            <p:cNvSpPr/>
            <p:nvPr/>
          </p:nvSpPr>
          <p:spPr>
            <a:xfrm>
              <a:off x="762000" y="2743200"/>
              <a:ext cx="10668000" cy="5143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9180" y="2889250"/>
              <a:ext cx="19357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岭回归 Ridge (α = 1)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9880" y="28892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0.581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64880" y="28892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0.651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74630" y="28892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−0.070</a:t>
              </a:r>
            </a:p>
          </p:txBody>
        </p:sp>
      </p:grpSp>
      <p:grpSp>
        <p:nvGrpSpPr>
          <p:cNvPr id="29" name="row-pls"/>
          <p:cNvGrpSpPr/>
          <p:nvPr/>
        </p:nvGrpSpPr>
        <p:grpSpPr>
          <a:xfrm>
            <a:off x="762000" y="3257550"/>
            <a:ext cx="10668000" cy="514350"/>
            <a:chOff x="762000" y="3257550"/>
            <a:chExt cx="10668000" cy="514350"/>
          </a:xfrm>
        </p:grpSpPr>
        <p:sp>
          <p:nvSpPr>
            <p:cNvPr id="24" name="Rectangle 24"/>
            <p:cNvSpPr/>
            <p:nvPr/>
          </p:nvSpPr>
          <p:spPr>
            <a:xfrm>
              <a:off x="762000" y="3257550"/>
              <a:ext cx="106680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9180" y="3403600"/>
              <a:ext cx="2824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偏最小二乘 PLS（2 个潜变量）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59880" y="34036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0.581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64880" y="340360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0.651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74630" y="340360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−0.070</a:t>
              </a:r>
            </a:p>
          </p:txBody>
        </p:sp>
      </p:grpSp>
      <p:grpSp>
        <p:nvGrpSpPr>
          <p:cNvPr id="35" name="row-rf"/>
          <p:cNvGrpSpPr/>
          <p:nvPr/>
        </p:nvGrpSpPr>
        <p:grpSpPr>
          <a:xfrm>
            <a:off x="762000" y="3771900"/>
            <a:ext cx="10668000" cy="514350"/>
            <a:chOff x="762000" y="3771900"/>
            <a:chExt cx="10668000" cy="514350"/>
          </a:xfrm>
        </p:grpSpPr>
        <p:sp>
          <p:nvSpPr>
            <p:cNvPr id="30" name="Rectangle 30"/>
            <p:cNvSpPr/>
            <p:nvPr/>
          </p:nvSpPr>
          <p:spPr>
            <a:xfrm>
              <a:off x="762000" y="3771900"/>
              <a:ext cx="10668000" cy="5143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59180" y="3917950"/>
              <a:ext cx="40774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随机森林 RandomForest（300 / depth 10）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59880" y="39179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0.997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4880" y="39179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0.982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74630" y="39179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+0.014</a:t>
              </a:r>
            </a:p>
          </p:txBody>
        </p:sp>
      </p:grpSp>
      <p:grpSp>
        <p:nvGrpSpPr>
          <p:cNvPr id="41" name="row-gbr"/>
          <p:cNvGrpSpPr/>
          <p:nvPr/>
        </p:nvGrpSpPr>
        <p:grpSpPr>
          <a:xfrm>
            <a:off x="762000" y="4286250"/>
            <a:ext cx="10668000" cy="590550"/>
            <a:chOff x="762000" y="4286250"/>
            <a:chExt cx="10668000" cy="590550"/>
          </a:xfrm>
        </p:grpSpPr>
        <p:sp>
          <p:nvSpPr>
            <p:cNvPr id="36" name="Rectangle 36"/>
            <p:cNvSpPr/>
            <p:nvPr/>
          </p:nvSpPr>
          <p:spPr>
            <a:xfrm>
              <a:off x="762000" y="4286250"/>
              <a:ext cx="10668000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58799" y="4457700"/>
              <a:ext cx="41867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梯度提升 GBR（300 / depth 5 / lr 0.05）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9499" y="4457700"/>
              <a:ext cx="60092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1.000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64499" y="4457700"/>
              <a:ext cx="60092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0.995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74249" y="4457700"/>
              <a:ext cx="71791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+0.004</a:t>
              </a:r>
            </a:p>
          </p:txBody>
        </p:sp>
      </p:grpSp>
      <p:grpSp>
        <p:nvGrpSpPr>
          <p:cNvPr id="43" name="table-note"/>
          <p:cNvGrpSpPr/>
          <p:nvPr/>
        </p:nvGrpSpPr>
        <p:grpSpPr>
          <a:xfrm>
            <a:off x="755523" y="5162550"/>
            <a:ext cx="4372488" cy="250317"/>
            <a:chOff x="755523" y="5162550"/>
            <a:chExt cx="4372488" cy="250317"/>
          </a:xfrm>
        </p:grpSpPr>
        <p:sp>
          <p:nvSpPr>
            <p:cNvPr id="42" name="TextBox 42"/>
            <p:cNvSpPr txBox="1"/>
            <p:nvPr/>
          </p:nvSpPr>
          <p:spPr>
            <a:xfrm>
              <a:off x="755523" y="5162550"/>
              <a:ext cx="437248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子集 1_avg_all · 随机 80/20 划分，random_state = 42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762000" y="5619750"/>
            <a:ext cx="10668000" cy="590550"/>
            <a:chOff x="762000" y="5619750"/>
            <a:chExt cx="10668000" cy="590550"/>
          </a:xfrm>
        </p:grpSpPr>
        <p:sp>
          <p:nvSpPr>
            <p:cNvPr id="44" name="Rectangle 44"/>
            <p:cNvSpPr/>
            <p:nvPr/>
          </p:nvSpPr>
          <p:spPr>
            <a:xfrm>
              <a:off x="762000" y="5619750"/>
              <a:ext cx="10668000" cy="59055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2000" y="5619750"/>
              <a:ext cx="38100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21080" y="5803900"/>
              <a:ext cx="69507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参数与信号之间存在强非线性：线性类模型 R² 仅 </a:t>
              </a:r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0.65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，梯度提升达到 </a:t>
              </a:r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0.995</a:t>
              </a:r>
            </a:p>
          </p:txBody>
        </p:sp>
      </p:grpSp>
      <p:grpSp>
        <p:nvGrpSpPr>
          <p:cNvPr id="50" name="page-footer"/>
          <p:cNvGrpSpPr/>
          <p:nvPr/>
        </p:nvGrpSpPr>
        <p:grpSpPr>
          <a:xfrm>
            <a:off x="757047" y="6553200"/>
            <a:ext cx="10480126" cy="191643"/>
            <a:chOff x="757047" y="6553200"/>
            <a:chExt cx="10480126" cy="191643"/>
          </a:xfrm>
        </p:grpSpPr>
        <p:sp>
          <p:nvSpPr>
            <p:cNvPr id="48" name="TextBox 48"/>
            <p:cNvSpPr txBox="1"/>
            <p:nvPr/>
          </p:nvSpPr>
          <p:spPr>
            <a:xfrm>
              <a:off x="757047" y="6553200"/>
              <a:ext cx="109563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Baseline 模型对比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82147" y="655320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77850"/>
            <a:ext cx="8701228" cy="842264"/>
            <a:chOff x="745236" y="577850"/>
            <a:chExt cx="8701228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77850"/>
              <a:ext cx="1055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02 模型与验证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74700"/>
              <a:ext cx="87012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分组交叉验证后 R² 仍达 0.98，泄露不成立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7160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mechanism-band"/>
          <p:cNvGrpSpPr/>
          <p:nvPr/>
        </p:nvGrpSpPr>
        <p:grpSpPr>
          <a:xfrm>
            <a:off x="762000" y="1771650"/>
            <a:ext cx="10668000" cy="1352550"/>
            <a:chOff x="762000" y="1771650"/>
            <a:chExt cx="10668000" cy="1352550"/>
          </a:xfrm>
        </p:grpSpPr>
        <p:sp>
          <p:nvSpPr>
            <p:cNvPr id="6" name="Rectangle 6"/>
            <p:cNvSpPr/>
            <p:nvPr/>
          </p:nvSpPr>
          <p:spPr>
            <a:xfrm>
              <a:off x="762000" y="1771650"/>
              <a:ext cx="10668000" cy="1352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771650"/>
              <a:ext cx="38100" cy="1352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1085" y="1936750"/>
              <a:ext cx="675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验证机制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9180" y="2222500"/>
              <a:ext cx="64669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分组变量　</a:t>
              </a:r>
              <a:r>
                <a:rPr lang="en-US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(laser_power, concentration, acq_time, flow_rate)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9180" y="2527300"/>
              <a:ext cx="63731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交叉方式　</a:t>
              </a:r>
              <a:r>
                <a:rPr lang="en-US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GroupKFold k = 5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·　同一实验条件的样本必落在同一折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9180" y="2813050"/>
              <a:ext cx="61842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每折规模　测试集 </a:t>
              </a:r>
              <a:r>
                <a:rPr lang="zh-CN" sz="15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188 – 205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个样本，组数与样本数一致，无退化折</a:t>
              </a:r>
            </a:p>
          </p:txBody>
        </p:sp>
      </p:grpSp>
      <p:grpSp>
        <p:nvGrpSpPr>
          <p:cNvPr id="21" name="seed-table-head"/>
          <p:cNvGrpSpPr/>
          <p:nvPr/>
        </p:nvGrpSpPr>
        <p:grpSpPr>
          <a:xfrm>
            <a:off x="762000" y="3390900"/>
            <a:ext cx="10668000" cy="400050"/>
            <a:chOff x="762000" y="3390900"/>
            <a:chExt cx="10668000" cy="400050"/>
          </a:xfrm>
        </p:grpSpPr>
        <p:sp>
          <p:nvSpPr>
            <p:cNvPr id="13" name="Rectangle 13"/>
            <p:cNvSpPr/>
            <p:nvPr/>
          </p:nvSpPr>
          <p:spPr>
            <a:xfrm>
              <a:off x="762000" y="3390900"/>
              <a:ext cx="10668000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323" y="3505200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61851" y="3505200"/>
              <a:ext cx="57259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Seed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09601" y="3505200"/>
              <a:ext cx="57259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Seed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57351" y="3505200"/>
              <a:ext cx="57259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Seed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05101" y="3505200"/>
              <a:ext cx="57259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Seed 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52851" y="3505200"/>
              <a:ext cx="57259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Seed 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9955" y="3505200"/>
              <a:ext cx="108259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均值 ± 标准差</a:t>
              </a:r>
            </a:p>
          </p:txBody>
        </p:sp>
      </p:grpSp>
      <p:grpSp>
        <p:nvGrpSpPr>
          <p:cNvPr id="30" name="seed-row-1"/>
          <p:cNvGrpSpPr/>
          <p:nvPr/>
        </p:nvGrpSpPr>
        <p:grpSpPr>
          <a:xfrm>
            <a:off x="762000" y="3790950"/>
            <a:ext cx="10668000" cy="476250"/>
            <a:chOff x="762000" y="3790950"/>
            <a:chExt cx="10668000" cy="476250"/>
          </a:xfrm>
        </p:grpSpPr>
        <p:sp>
          <p:nvSpPr>
            <p:cNvPr id="22" name="Rectangle 22"/>
            <p:cNvSpPr/>
            <p:nvPr/>
          </p:nvSpPr>
          <p:spPr>
            <a:xfrm>
              <a:off x="762000" y="3790950"/>
              <a:ext cx="106680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9942" y="3921125"/>
              <a:ext cx="822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1_avg_all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91404" y="392112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0.986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39154" y="392112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0.978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86904" y="392112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0.985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34654" y="392112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0.985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82404" y="392112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0.967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10613" y="3921125"/>
              <a:ext cx="1381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0.980 ± 0.007</a:t>
              </a:r>
            </a:p>
          </p:txBody>
        </p:sp>
      </p:grpSp>
      <p:grpSp>
        <p:nvGrpSpPr>
          <p:cNvPr id="39" name="seed-row-2"/>
          <p:cNvGrpSpPr/>
          <p:nvPr/>
        </p:nvGrpSpPr>
        <p:grpSpPr>
          <a:xfrm>
            <a:off x="762000" y="4267200"/>
            <a:ext cx="10668000" cy="476250"/>
            <a:chOff x="762000" y="4267200"/>
            <a:chExt cx="10668000" cy="476250"/>
          </a:xfrm>
        </p:grpSpPr>
        <p:sp>
          <p:nvSpPr>
            <p:cNvPr id="31" name="Rectangle 31"/>
            <p:cNvSpPr/>
            <p:nvPr/>
          </p:nvSpPr>
          <p:spPr>
            <a:xfrm>
              <a:off x="762000" y="4267200"/>
              <a:ext cx="10668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59942" y="4397375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2_avg_rsd015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91404" y="439737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0.992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39154" y="439737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0.994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86904" y="439737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0.990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34654" y="439737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0.991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82404" y="439737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0.993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0613" y="4397375"/>
              <a:ext cx="1381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0.992 ± 0.001</a:t>
              </a:r>
            </a:p>
          </p:txBody>
        </p:sp>
      </p:grpSp>
      <p:grpSp>
        <p:nvGrpSpPr>
          <p:cNvPr id="48" name="seed-row-3"/>
          <p:cNvGrpSpPr/>
          <p:nvPr/>
        </p:nvGrpSpPr>
        <p:grpSpPr>
          <a:xfrm>
            <a:off x="762000" y="4743450"/>
            <a:ext cx="10668000" cy="476250"/>
            <a:chOff x="762000" y="4743450"/>
            <a:chExt cx="10668000" cy="476250"/>
          </a:xfrm>
        </p:grpSpPr>
        <p:sp>
          <p:nvSpPr>
            <p:cNvPr id="40" name="Rectangle 40"/>
            <p:cNvSpPr/>
            <p:nvPr/>
          </p:nvSpPr>
          <p:spPr>
            <a:xfrm>
              <a:off x="762000" y="4743450"/>
              <a:ext cx="106680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59942" y="4873625"/>
              <a:ext cx="822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3_rsd_all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91404" y="487362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0.553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39154" y="487362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0.564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86904" y="487362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0.663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34654" y="487362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0.641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82404" y="487362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0.653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10613" y="4873625"/>
              <a:ext cx="1381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0.615 ± 0.047</a:t>
              </a:r>
            </a:p>
          </p:txBody>
        </p:sp>
      </p:grpSp>
      <p:grpSp>
        <p:nvGrpSpPr>
          <p:cNvPr id="57" name="seed-row-4"/>
          <p:cNvGrpSpPr/>
          <p:nvPr/>
        </p:nvGrpSpPr>
        <p:grpSpPr>
          <a:xfrm>
            <a:off x="762000" y="5219700"/>
            <a:ext cx="10668000" cy="476250"/>
            <a:chOff x="762000" y="5219700"/>
            <a:chExt cx="10668000" cy="476250"/>
          </a:xfrm>
        </p:grpSpPr>
        <p:sp>
          <p:nvSpPr>
            <p:cNvPr id="49" name="Rectangle 49"/>
            <p:cNvSpPr/>
            <p:nvPr/>
          </p:nvSpPr>
          <p:spPr>
            <a:xfrm>
              <a:off x="762000" y="5219700"/>
              <a:ext cx="10668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9942" y="5349875"/>
              <a:ext cx="1222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4_rsd_filt030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991404" y="534987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0.671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39154" y="534987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0.720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86904" y="534987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0.619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34654" y="534987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0.696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82404" y="5349875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0.697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10613" y="5349875"/>
              <a:ext cx="1381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0.681 ± 0.034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762000" y="5924550"/>
            <a:ext cx="10668000" cy="457200"/>
            <a:chOff x="762000" y="5924550"/>
            <a:chExt cx="10668000" cy="457200"/>
          </a:xfrm>
        </p:grpSpPr>
        <p:sp>
          <p:nvSpPr>
            <p:cNvPr id="58" name="Rectangle 58"/>
            <p:cNvSpPr/>
            <p:nvPr/>
          </p:nvSpPr>
          <p:spPr>
            <a:xfrm>
              <a:off x="762000" y="5924550"/>
              <a:ext cx="10668000" cy="4572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62000" y="5924550"/>
              <a:ext cx="381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21461" y="6054725"/>
              <a:ext cx="67045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Raman 目标跨种子标准差 </a:t>
              </a:r>
              <a:r>
                <a:rPr lang="zh-CN" sz="142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&lt; 0.01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；RSD 目标因信噪比低而波动较大（≈ 0.04）</a:t>
              </a:r>
            </a:p>
          </p:txBody>
        </p:sp>
      </p:grpSp>
      <p:grpSp>
        <p:nvGrpSpPr>
          <p:cNvPr id="64" name="page-footer"/>
          <p:cNvGrpSpPr/>
          <p:nvPr/>
        </p:nvGrpSpPr>
        <p:grpSpPr>
          <a:xfrm>
            <a:off x="757047" y="6553200"/>
            <a:ext cx="10480126" cy="191643"/>
            <a:chOff x="757047" y="6553200"/>
            <a:chExt cx="10480126" cy="191643"/>
          </a:xfrm>
        </p:grpSpPr>
        <p:sp>
          <p:nvSpPr>
            <p:cNvPr id="62" name="TextBox 62"/>
            <p:cNvSpPr txBox="1"/>
            <p:nvPr/>
          </p:nvSpPr>
          <p:spPr>
            <a:xfrm>
              <a:off x="757047" y="6553200"/>
              <a:ext cx="14141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GroupKFold 防泄露验证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082147" y="655320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77850"/>
            <a:ext cx="6995973" cy="842264"/>
            <a:chOff x="745236" y="577850"/>
            <a:chExt cx="6995973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77850"/>
              <a:ext cx="1055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02 模型与验证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74700"/>
              <a:ext cx="699597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1023 条测试样本几乎全部贴合 y=x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7160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fig-parity"/>
          <p:cNvGrpSpPr/>
          <p:nvPr/>
        </p:nvGrpSpPr>
        <p:grpSpPr>
          <a:xfrm>
            <a:off x="756285" y="1809750"/>
            <a:ext cx="5911215" cy="4290378"/>
            <a:chOff x="756285" y="1809750"/>
            <a:chExt cx="5911215" cy="4290378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9617" y="1809750"/>
              <a:ext cx="4670267" cy="40005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762000" y="1809750"/>
              <a:ext cx="5905500" cy="40005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285" y="5880100"/>
              <a:ext cx="36697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图 1　子集 1_avg_all 的 Parity Plot（预测 vs 实际）</a:t>
              </a:r>
            </a:p>
          </p:txBody>
        </p:sp>
      </p:grpSp>
      <p:grpSp>
        <p:nvGrpSpPr>
          <p:cNvPr id="13" name="kpi-block"/>
          <p:cNvGrpSpPr/>
          <p:nvPr/>
        </p:nvGrpSpPr>
        <p:grpSpPr>
          <a:xfrm>
            <a:off x="7048500" y="1809750"/>
            <a:ext cx="4381500" cy="957453"/>
            <a:chOff x="7048500" y="1809750"/>
            <a:chExt cx="4381500" cy="957453"/>
          </a:xfrm>
        </p:grpSpPr>
        <p:sp>
          <p:nvSpPr>
            <p:cNvPr id="10" name="Rectangle 10"/>
            <p:cNvSpPr/>
            <p:nvPr/>
          </p:nvSpPr>
          <p:spPr>
            <a:xfrm>
              <a:off x="7048500" y="1809750"/>
              <a:ext cx="43815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09485" y="1974850"/>
              <a:ext cx="1250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9FBBD3"/>
                  </a:solidFill>
                  <a:latin typeface="+mn-lt"/>
                  <a:ea typeface="+mn-ea"/>
                  <a:cs typeface="+mn-cs"/>
                </a:rPr>
                <a:t>子集 1_avg_all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00722" y="2209800"/>
              <a:ext cx="24815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R² = 0.9954</a:t>
              </a:r>
            </a:p>
          </p:txBody>
        </p:sp>
      </p:grpSp>
      <p:grpSp>
        <p:nvGrpSpPr>
          <p:cNvPr id="17" name="kpi-block-2"/>
          <p:cNvGrpSpPr/>
          <p:nvPr/>
        </p:nvGrpSpPr>
        <p:grpSpPr>
          <a:xfrm>
            <a:off x="7048500" y="2876550"/>
            <a:ext cx="4381500" cy="957453"/>
            <a:chOff x="7048500" y="2876550"/>
            <a:chExt cx="4381500" cy="957453"/>
          </a:xfrm>
        </p:grpSpPr>
        <p:sp>
          <p:nvSpPr>
            <p:cNvPr id="14" name="Rectangle 14"/>
            <p:cNvSpPr/>
            <p:nvPr/>
          </p:nvSpPr>
          <p:spPr>
            <a:xfrm>
              <a:off x="7048500" y="2876550"/>
              <a:ext cx="4381500" cy="914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09485" y="3041650"/>
              <a:ext cx="13589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测试集均方根误差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00722" y="3276600"/>
              <a:ext cx="292745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RMSE = 107.78</a:t>
              </a:r>
            </a:p>
          </p:txBody>
        </p:sp>
      </p:grpSp>
      <p:grpSp>
        <p:nvGrpSpPr>
          <p:cNvPr id="25" name="reading-list"/>
          <p:cNvGrpSpPr/>
          <p:nvPr/>
        </p:nvGrpSpPr>
        <p:grpSpPr>
          <a:xfrm>
            <a:off x="7041261" y="4171950"/>
            <a:ext cx="4388739" cy="2005902"/>
            <a:chOff x="7041261" y="4171950"/>
            <a:chExt cx="4388739" cy="2005902"/>
          </a:xfrm>
        </p:grpSpPr>
        <p:sp>
          <p:nvSpPr>
            <p:cNvPr id="18" name="TextBox 18"/>
            <p:cNvSpPr txBox="1"/>
            <p:nvPr/>
          </p:nvSpPr>
          <p:spPr>
            <a:xfrm>
              <a:off x="7042023" y="4171950"/>
              <a:ext cx="7627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图上读数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048500" y="44767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41261" y="4603750"/>
              <a:ext cx="25252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所有测试点紧贴 </a:t>
              </a:r>
              <a:r>
                <a:rPr lang="en-US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y=x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参考线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1261" y="4940300"/>
              <a:ext cx="35895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残差集中在高信号端（</a:t>
              </a:r>
              <a:r>
                <a:rPr lang="zh-CN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&gt; 8000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counts）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41261" y="5251450"/>
              <a:ext cx="28440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无系统偏差：无整体高估或低估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1261" y="5575300"/>
              <a:ext cx="22705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低信号端聚集在原点附近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41261" y="5899150"/>
              <a:ext cx="31688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 GroupKFold 结果（0.980）一致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757047" y="6553200"/>
            <a:ext cx="10480126" cy="191643"/>
            <a:chOff x="757047" y="6553200"/>
            <a:chExt cx="10480126" cy="191643"/>
          </a:xfrm>
        </p:grpSpPr>
        <p:sp>
          <p:nvSpPr>
            <p:cNvPr id="26" name="TextBox 26"/>
            <p:cNvSpPr txBox="1"/>
            <p:nvPr/>
          </p:nvSpPr>
          <p:spPr>
            <a:xfrm>
              <a:off x="757047" y="6553200"/>
              <a:ext cx="33601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预测-实际一致性 · P1 单一视觉（左侧证据 / 右侧解读）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82147" y="655320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77850"/>
            <a:ext cx="5808726" cy="842264"/>
            <a:chOff x="745236" y="577850"/>
            <a:chExt cx="5808726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77850"/>
              <a:ext cx="10644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03 SHAP 归因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7470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浓度与采集时间主导信号强度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7160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fig-global"/>
          <p:cNvGrpSpPr/>
          <p:nvPr/>
        </p:nvGrpSpPr>
        <p:grpSpPr>
          <a:xfrm>
            <a:off x="756285" y="1733550"/>
            <a:ext cx="10673715" cy="3147378"/>
            <a:chOff x="756285" y="1733550"/>
            <a:chExt cx="10673715" cy="3147378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16403" y="1733550"/>
              <a:ext cx="6759194" cy="28575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762000" y="1733550"/>
              <a:ext cx="10668000" cy="28575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285" y="4660900"/>
              <a:ext cx="42905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图 2　子集 1_avg_all 的全局特征重要性（Mean |SHAP value|）</a:t>
              </a:r>
            </a:p>
          </p:txBody>
        </p:sp>
      </p:grpSp>
      <p:grpSp>
        <p:nvGrpSpPr>
          <p:cNvPr id="14" name="rank-row-1"/>
          <p:cNvGrpSpPr/>
          <p:nvPr/>
        </p:nvGrpSpPr>
        <p:grpSpPr>
          <a:xfrm>
            <a:off x="762000" y="4972050"/>
            <a:ext cx="2590800" cy="1162050"/>
            <a:chOff x="762000" y="4972050"/>
            <a:chExt cx="2590800" cy="1162050"/>
          </a:xfrm>
        </p:grpSpPr>
        <p:sp>
          <p:nvSpPr>
            <p:cNvPr id="10" name="Rectangle 10"/>
            <p:cNvSpPr/>
            <p:nvPr/>
          </p:nvSpPr>
          <p:spPr>
            <a:xfrm>
              <a:off x="762000" y="4972050"/>
              <a:ext cx="2590800" cy="1162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4885" y="51371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5C0C0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599" y="5467350"/>
              <a:ext cx="205641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浓度 Concentration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1456" y="576580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802</a:t>
              </a:r>
            </a:p>
          </p:txBody>
        </p:sp>
      </p:grpSp>
      <p:grpSp>
        <p:nvGrpSpPr>
          <p:cNvPr id="19" name="rank-row-2"/>
          <p:cNvGrpSpPr/>
          <p:nvPr/>
        </p:nvGrpSpPr>
        <p:grpSpPr>
          <a:xfrm>
            <a:off x="3467100" y="4972050"/>
            <a:ext cx="2590800" cy="1162050"/>
            <a:chOff x="3467100" y="4972050"/>
            <a:chExt cx="2590800" cy="1162050"/>
          </a:xfrm>
        </p:grpSpPr>
        <p:sp>
          <p:nvSpPr>
            <p:cNvPr id="15" name="Rectangle 15"/>
            <p:cNvSpPr/>
            <p:nvPr/>
          </p:nvSpPr>
          <p:spPr>
            <a:xfrm>
              <a:off x="3467100" y="4972050"/>
              <a:ext cx="2590800" cy="1162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89985" y="51371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FBBD3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87699" y="5467350"/>
              <a:ext cx="199018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采集时间 Acq. Time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86556" y="576580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601</a:t>
              </a:r>
            </a:p>
          </p:txBody>
        </p:sp>
      </p:grpSp>
      <p:grpSp>
        <p:nvGrpSpPr>
          <p:cNvPr id="24" name="rank-row-3"/>
          <p:cNvGrpSpPr/>
          <p:nvPr/>
        </p:nvGrpSpPr>
        <p:grpSpPr>
          <a:xfrm>
            <a:off x="6172200" y="4972050"/>
            <a:ext cx="2590800" cy="1162050"/>
            <a:chOff x="6172200" y="4972050"/>
            <a:chExt cx="2590800" cy="1162050"/>
          </a:xfrm>
        </p:grpSpPr>
        <p:sp>
          <p:nvSpPr>
            <p:cNvPr id="20" name="Rectangle 20"/>
            <p:cNvSpPr/>
            <p:nvPr/>
          </p:nvSpPr>
          <p:spPr>
            <a:xfrm>
              <a:off x="6172200" y="4972050"/>
              <a:ext cx="2590800" cy="1162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95085" y="51371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FE0EC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92799" y="5467350"/>
              <a:ext cx="156255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流速 Flow Rate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1656" y="576580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348</a:t>
              </a:r>
            </a:p>
          </p:txBody>
        </p:sp>
      </p:grpSp>
      <p:grpSp>
        <p:nvGrpSpPr>
          <p:cNvPr id="29" name="rank-row-4"/>
          <p:cNvGrpSpPr/>
          <p:nvPr/>
        </p:nvGrpSpPr>
        <p:grpSpPr>
          <a:xfrm>
            <a:off x="8877300" y="4972050"/>
            <a:ext cx="2552700" cy="1162050"/>
            <a:chOff x="8877300" y="4972050"/>
            <a:chExt cx="2552700" cy="1162050"/>
          </a:xfrm>
        </p:grpSpPr>
        <p:sp>
          <p:nvSpPr>
            <p:cNvPr id="25" name="Rectangle 25"/>
            <p:cNvSpPr/>
            <p:nvPr/>
          </p:nvSpPr>
          <p:spPr>
            <a:xfrm>
              <a:off x="8877300" y="4972050"/>
              <a:ext cx="2552700" cy="1162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00185" y="5137150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97899" y="5467350"/>
              <a:ext cx="228973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激光功率 Laser Power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96756" y="576580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181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755142" y="6254750"/>
            <a:ext cx="7243034" cy="264033"/>
            <a:chOff x="755142" y="6254750"/>
            <a:chExt cx="7243034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755142" y="6254750"/>
              <a:ext cx="7243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浓度与采集时间合计解释绝大部分信号变化；</a:t>
              </a:r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激光功率可固定到 30 mW 中等档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以节省成本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082147" y="65532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B97A5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77850"/>
            <a:ext cx="9079487" cy="842264"/>
            <a:chOff x="745236" y="577850"/>
            <a:chExt cx="9079487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77850"/>
              <a:ext cx="10644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03 SHAP 归因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74700"/>
              <a:ext cx="907948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浓度与时间单调递增，流速在 320 后进入平台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7160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fig-beeswarm"/>
          <p:cNvGrpSpPr/>
          <p:nvPr/>
        </p:nvGrpSpPr>
        <p:grpSpPr>
          <a:xfrm>
            <a:off x="756285" y="1771650"/>
            <a:ext cx="10673715" cy="2842578"/>
            <a:chOff x="756285" y="1771650"/>
            <a:chExt cx="10673715" cy="2842578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5582" y="1771650"/>
              <a:ext cx="6560837" cy="25527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762000" y="1771650"/>
              <a:ext cx="10668000" cy="25527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285" y="4394200"/>
              <a:ext cx="45239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图 3　SHAP Beeswarm 汇总图　红色 = 特征高值，蓝色 = 特征低值</a:t>
              </a:r>
            </a:p>
          </p:txBody>
        </p:sp>
      </p:grpSp>
      <p:grpSp>
        <p:nvGrpSpPr>
          <p:cNvPr id="17" name="direction-reading"/>
          <p:cNvGrpSpPr/>
          <p:nvPr/>
        </p:nvGrpSpPr>
        <p:grpSpPr>
          <a:xfrm>
            <a:off x="762000" y="4724400"/>
            <a:ext cx="10668000" cy="1625346"/>
            <a:chOff x="762000" y="4724400"/>
            <a:chExt cx="10668000" cy="1625346"/>
          </a:xfrm>
        </p:grpSpPr>
        <p:sp>
          <p:nvSpPr>
            <p:cNvPr id="10" name="Rectangle 10"/>
            <p:cNvSpPr/>
            <p:nvPr/>
          </p:nvSpPr>
          <p:spPr>
            <a:xfrm>
              <a:off x="762000" y="4724400"/>
              <a:ext cx="10668000" cy="1619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4724400"/>
              <a:ext cx="38100" cy="1619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0323" y="4876800"/>
              <a:ext cx="95529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方向性解读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9180" y="5194300"/>
              <a:ext cx="8841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浓度 / 采集时间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：高值（红）全部落在正侧，低值（蓝）全部落在负侧 —— 单调递增，无反向区间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180" y="5518150"/>
              <a:ext cx="5543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流速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</a:t>
              </a:r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附近有一簇深负散点，对应</a:t>
              </a:r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flow=0 时信号几乎消失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9180" y="5842000"/>
              <a:ext cx="5844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激光功率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：分布集中在 0 附近，10 / 30 / 50 mW 三档差异很小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0704" y="6115050"/>
              <a:ext cx="4851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蜂群图的横轴为 SHAP 值（对模型输出的影响），纵向按重要性排序</a:t>
              </a:r>
            </a:p>
          </p:txBody>
        </p:sp>
      </p:grpSp>
      <p:grpSp>
        <p:nvGrpSpPr>
          <p:cNvPr id="20" name="page-footer"/>
          <p:cNvGrpSpPr/>
          <p:nvPr/>
        </p:nvGrpSpPr>
        <p:grpSpPr>
          <a:xfrm>
            <a:off x="757047" y="6553200"/>
            <a:ext cx="10480126" cy="191643"/>
            <a:chOff x="757047" y="6553200"/>
            <a:chExt cx="10480126" cy="191643"/>
          </a:xfrm>
        </p:grpSpPr>
        <p:sp>
          <p:nvSpPr>
            <p:cNvPr id="18" name="TextBox 18"/>
            <p:cNvSpPr txBox="1"/>
            <p:nvPr/>
          </p:nvSpPr>
          <p:spPr>
            <a:xfrm>
              <a:off x="757047" y="6553200"/>
              <a:ext cx="16958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SHAP Beeswarm 方向性判读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82147" y="655320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77850"/>
            <a:ext cx="10127690" cy="842264"/>
            <a:chOff x="745236" y="577850"/>
            <a:chExt cx="10127690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77850"/>
              <a:ext cx="10644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03 SHAP 归因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74700"/>
              <a:ext cx="1012769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浓度在 80 pM 后趋缓，流速在 320 μL/min 后饱和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7160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fig-dep-conc"/>
          <p:cNvGrpSpPr/>
          <p:nvPr/>
        </p:nvGrpSpPr>
        <p:grpSpPr>
          <a:xfrm>
            <a:off x="756285" y="1809750"/>
            <a:ext cx="5225415" cy="3490278"/>
            <a:chOff x="756285" y="1809750"/>
            <a:chExt cx="5225415" cy="3490278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1872899"/>
              <a:ext cx="5219700" cy="3074102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762000" y="1809750"/>
              <a:ext cx="5219700" cy="32004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285" y="5080000"/>
              <a:ext cx="2078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图 4　浓度 → SHAP 值依赖关系</a:t>
              </a:r>
            </a:p>
          </p:txBody>
        </p:sp>
      </p:grpSp>
      <p:grpSp>
        <p:nvGrpSpPr>
          <p:cNvPr id="13" name="fig-dep-flow"/>
          <p:cNvGrpSpPr/>
          <p:nvPr/>
        </p:nvGrpSpPr>
        <p:grpSpPr>
          <a:xfrm>
            <a:off x="6204585" y="1809750"/>
            <a:ext cx="5225415" cy="3490278"/>
            <a:chOff x="6204585" y="1809750"/>
            <a:chExt cx="5225415" cy="3490278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300" y="1869195"/>
              <a:ext cx="5219700" cy="308151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210300" y="1809750"/>
              <a:ext cx="5219700" cy="32004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04585" y="5080000"/>
              <a:ext cx="2078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图 5　流速 → SHAP 值依赖关系</a:t>
              </a:r>
            </a:p>
          </p:txBody>
        </p:sp>
      </p:grpSp>
      <p:grpSp>
        <p:nvGrpSpPr>
          <p:cNvPr id="19" name="reading-conc"/>
          <p:cNvGrpSpPr/>
          <p:nvPr/>
        </p:nvGrpSpPr>
        <p:grpSpPr>
          <a:xfrm>
            <a:off x="762000" y="5448300"/>
            <a:ext cx="5219700" cy="901446"/>
            <a:chOff x="762000" y="5448300"/>
            <a:chExt cx="5219700" cy="901446"/>
          </a:xfrm>
        </p:grpSpPr>
        <p:sp>
          <p:nvSpPr>
            <p:cNvPr id="14" name="Rectangle 14"/>
            <p:cNvSpPr/>
            <p:nvPr/>
          </p:nvSpPr>
          <p:spPr>
            <a:xfrm>
              <a:off x="762000" y="5448300"/>
              <a:ext cx="5219700" cy="876300"/>
            </a:xfrm>
            <a:prstGeom prst="rect">
              <a:avLst/>
            </a:prstGeom>
            <a:solidFill>
              <a:schemeClr val="accent2">
                <a:alpha val="7000"/>
              </a:scheme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2000" y="5448300"/>
              <a:ext cx="38100" cy="876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22604" y="5581650"/>
              <a:ext cx="3554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拐点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1461" y="5873750"/>
              <a:ext cx="29557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浓度 </a:t>
              </a:r>
              <a:r>
                <a:rPr lang="en-US" sz="142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80 pM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后 SHAP 增幅明显放缓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2604" y="61150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高于此浓度继续加量，收益递减</a:t>
              </a:r>
            </a:p>
          </p:txBody>
        </p:sp>
      </p:grpSp>
      <p:grpSp>
        <p:nvGrpSpPr>
          <p:cNvPr id="25" name="reading-flow"/>
          <p:cNvGrpSpPr/>
          <p:nvPr/>
        </p:nvGrpSpPr>
        <p:grpSpPr>
          <a:xfrm>
            <a:off x="6210300" y="5448300"/>
            <a:ext cx="5219700" cy="901446"/>
            <a:chOff x="6210300" y="5448300"/>
            <a:chExt cx="5219700" cy="901446"/>
          </a:xfrm>
        </p:grpSpPr>
        <p:sp>
          <p:nvSpPr>
            <p:cNvPr id="20" name="Rectangle 20"/>
            <p:cNvSpPr/>
            <p:nvPr/>
          </p:nvSpPr>
          <p:spPr>
            <a:xfrm>
              <a:off x="6210300" y="5448300"/>
              <a:ext cx="5219700" cy="87630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10300" y="5448300"/>
              <a:ext cx="381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70904" y="5581650"/>
              <a:ext cx="3554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拐点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9761" y="5873750"/>
              <a:ext cx="25305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流速 </a:t>
              </a:r>
              <a:r>
                <a:rPr lang="el-GR" sz="14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320 μL/min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后进入平台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0904" y="6115050"/>
              <a:ext cx="2071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1280 与 640 两档的差异很小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757047" y="6553200"/>
            <a:ext cx="10480126" cy="191643"/>
            <a:chOff x="757047" y="6553200"/>
            <a:chExt cx="10480126" cy="191643"/>
          </a:xfrm>
        </p:grpSpPr>
        <p:sp>
          <p:nvSpPr>
            <p:cNvPr id="26" name="TextBox 26"/>
            <p:cNvSpPr txBox="1"/>
            <p:nvPr/>
          </p:nvSpPr>
          <p:spPr>
            <a:xfrm>
              <a:off x="757047" y="6553200"/>
              <a:ext cx="28246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SHAP 依赖图与边际效应递减点 · P3 多视觉并列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82147" y="655320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77850"/>
            <a:ext cx="5584927" cy="842264"/>
            <a:chOff x="745236" y="577850"/>
            <a:chExt cx="5584927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77850"/>
              <a:ext cx="1055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04 交互与局部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74700"/>
              <a:ext cx="55849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流速与浓度在 RSD 上强交互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7160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fig-interaction"/>
          <p:cNvGrpSpPr/>
          <p:nvPr/>
        </p:nvGrpSpPr>
        <p:grpSpPr>
          <a:xfrm>
            <a:off x="756285" y="1809750"/>
            <a:ext cx="6292215" cy="4118928"/>
            <a:chOff x="756285" y="1809750"/>
            <a:chExt cx="6292215" cy="4118928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70416"/>
              <a:ext cx="6286500" cy="3288667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762000" y="1809750"/>
              <a:ext cx="6286500" cy="38100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285" y="5708650"/>
              <a:ext cx="34126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图 6　子集 3_rsd_all：浓度 SHAP 值，着色为流速</a:t>
              </a:r>
            </a:p>
          </p:txBody>
        </p:sp>
      </p:grpSp>
      <p:grpSp>
        <p:nvGrpSpPr>
          <p:cNvPr id="14" name="rule-card"/>
          <p:cNvGrpSpPr/>
          <p:nvPr/>
        </p:nvGrpSpPr>
        <p:grpSpPr>
          <a:xfrm>
            <a:off x="7429500" y="1809750"/>
            <a:ext cx="4000500" cy="1162050"/>
            <a:chOff x="7429500" y="1809750"/>
            <a:chExt cx="4000500" cy="1162050"/>
          </a:xfrm>
        </p:grpSpPr>
        <p:sp>
          <p:nvSpPr>
            <p:cNvPr id="10" name="Rectangle 10"/>
            <p:cNvSpPr/>
            <p:nvPr/>
          </p:nvSpPr>
          <p:spPr>
            <a:xfrm>
              <a:off x="7429500" y="1809750"/>
              <a:ext cx="4000500" cy="1162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52385" y="1974850"/>
              <a:ext cx="675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9FBBD3"/>
                  </a:solidFill>
                  <a:latin typeface="+mn-lt"/>
                  <a:ea typeface="+mn-ea"/>
                  <a:cs typeface="+mn-cs"/>
                </a:rPr>
                <a:t>判读规则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50861" y="2260600"/>
              <a:ext cx="25282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 x 段内红蓝点</a:t>
              </a:r>
              <a:r>
                <a:rPr lang="zh-CN" sz="1420" b="1" dirty="0">
                  <a:solidFill>
                    <a:srgbClr val="FFD5D5"/>
                  </a:solidFill>
                  <a:latin typeface="+mn-lt"/>
                  <a:ea typeface="+mn-ea"/>
                  <a:cs typeface="+mn-cs"/>
                </a:rPr>
                <a:t>系统性分离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50861" y="2565400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 强交互；混在一起 → 弱交互</a:t>
              </a:r>
            </a:p>
          </p:txBody>
        </p:sp>
      </p:grpSp>
      <p:grpSp>
        <p:nvGrpSpPr>
          <p:cNvPr id="25" name="finding-card"/>
          <p:cNvGrpSpPr/>
          <p:nvPr/>
        </p:nvGrpSpPr>
        <p:grpSpPr>
          <a:xfrm>
            <a:off x="7429500" y="3200400"/>
            <a:ext cx="4000500" cy="2518283"/>
            <a:chOff x="7429500" y="3200400"/>
            <a:chExt cx="4000500" cy="2518283"/>
          </a:xfrm>
        </p:grpSpPr>
        <p:sp>
          <p:nvSpPr>
            <p:cNvPr id="15" name="Rectangle 15"/>
            <p:cNvSpPr/>
            <p:nvPr/>
          </p:nvSpPr>
          <p:spPr>
            <a:xfrm>
              <a:off x="7429500" y="3200400"/>
              <a:ext cx="4000500" cy="24193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52385" y="3365500"/>
              <a:ext cx="675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判读结果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50861" y="3651250"/>
              <a:ext cx="32575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RSD 目标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：低流速段与高流速段颜色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03261" y="3898900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明显分离 → 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强交互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50861" y="4222750"/>
              <a:ext cx="25479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Raman 目标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：红蓝混在一起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3261" y="4470400"/>
              <a:ext cx="1132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→ </a:t>
              </a:r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无显著交互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658100" y="4838700"/>
              <a:ext cx="3543300" cy="9525"/>
            </a:xfrm>
            <a:custGeom>
              <a:avLst/>
              <a:gdLst/>
              <a:ahLst/>
              <a:cxnLst/>
              <a:rect l="l" t="t" r="r" b="b"/>
              <a:pathLst>
                <a:path w="3543300" h="9525">
                  <a:moveTo>
                    <a:pt x="0" y="0"/>
                  </a:moveTo>
                  <a:lnTo>
                    <a:pt x="3543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52385" y="4984750"/>
              <a:ext cx="675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物理含义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51242" y="52260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流速影响扩散层厚度，进而改变浓度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51242" y="54546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对信号稳定性的边际作用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762000" y="6000750"/>
            <a:ext cx="10668000" cy="438150"/>
            <a:chOff x="762000" y="6000750"/>
            <a:chExt cx="10668000" cy="438150"/>
          </a:xfrm>
        </p:grpSpPr>
        <p:sp>
          <p:nvSpPr>
            <p:cNvPr id="26" name="Rectangle 26"/>
            <p:cNvSpPr/>
            <p:nvPr/>
          </p:nvSpPr>
          <p:spPr>
            <a:xfrm>
              <a:off x="762000" y="6000750"/>
              <a:ext cx="10668000" cy="438150"/>
            </a:xfrm>
            <a:prstGeom prst="rect">
              <a:avLst/>
            </a:prstGeom>
            <a:solidFill>
              <a:schemeClr val="accent2">
                <a:alpha val="7000"/>
              </a:scheme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2000" y="6000750"/>
              <a:ext cx="381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21461" y="6108700"/>
              <a:ext cx="710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强交互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只出现在 RSD 目标上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；在 Raman 目标上四个参数基本可分离，主效应已足够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082147" y="65532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B97A5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77850"/>
            <a:ext cx="7361911" cy="842264"/>
            <a:chOff x="745236" y="577850"/>
            <a:chExt cx="7361911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77850"/>
              <a:ext cx="1055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04 交互与局部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74700"/>
              <a:ext cx="73619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流速与采集时间在 RSD 上也存在交互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7160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fig-interaction"/>
          <p:cNvGrpSpPr/>
          <p:nvPr/>
        </p:nvGrpSpPr>
        <p:grpSpPr>
          <a:xfrm>
            <a:off x="756285" y="1809750"/>
            <a:ext cx="6292215" cy="4118928"/>
            <a:chOff x="756285" y="1809750"/>
            <a:chExt cx="6292215" cy="4118928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077409"/>
              <a:ext cx="6286500" cy="3274683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762000" y="1809750"/>
              <a:ext cx="6286500" cy="38100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285" y="5708650"/>
              <a:ext cx="37142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图 7　子集 3_rsd_all：采集时间 SHAP 值，着色为流速</a:t>
              </a:r>
            </a:p>
          </p:txBody>
        </p:sp>
      </p:grpSp>
      <p:grpSp>
        <p:nvGrpSpPr>
          <p:cNvPr id="17" name="compare-card"/>
          <p:cNvGrpSpPr/>
          <p:nvPr/>
        </p:nvGrpSpPr>
        <p:grpSpPr>
          <a:xfrm>
            <a:off x="7429500" y="1809750"/>
            <a:ext cx="4000500" cy="1813878"/>
            <a:chOff x="7429500" y="1809750"/>
            <a:chExt cx="4000500" cy="1813878"/>
          </a:xfrm>
        </p:grpSpPr>
        <p:sp>
          <p:nvSpPr>
            <p:cNvPr id="10" name="Rectangle 10"/>
            <p:cNvSpPr/>
            <p:nvPr/>
          </p:nvSpPr>
          <p:spPr>
            <a:xfrm>
              <a:off x="7429500" y="1809750"/>
              <a:ext cx="4000500" cy="1676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52385" y="1974850"/>
              <a:ext cx="675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段内读数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50861" y="2260600"/>
              <a:ext cx="34095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低流速段：时间高值点 SHAP 整体偏正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50861" y="2584450"/>
              <a:ext cx="34095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高流速段：时间高值点 SHAP 整体偏负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50861" y="2908300"/>
              <a:ext cx="22705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段内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高低值的差异很小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52385" y="32131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说明流速改变了时间对波动的整体水平，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52385" y="34036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但没有改变时间自身的影响方向</a:t>
              </a:r>
            </a:p>
          </p:txBody>
        </p:sp>
      </p:grpSp>
      <p:grpSp>
        <p:nvGrpSpPr>
          <p:cNvPr id="27" name="strength-compare"/>
          <p:cNvGrpSpPr/>
          <p:nvPr/>
        </p:nvGrpSpPr>
        <p:grpSpPr>
          <a:xfrm>
            <a:off x="7429500" y="3714750"/>
            <a:ext cx="4000500" cy="1909128"/>
            <a:chOff x="7429500" y="3714750"/>
            <a:chExt cx="4000500" cy="1909128"/>
          </a:xfrm>
        </p:grpSpPr>
        <p:sp>
          <p:nvSpPr>
            <p:cNvPr id="18" name="Rectangle 18"/>
            <p:cNvSpPr/>
            <p:nvPr/>
          </p:nvSpPr>
          <p:spPr>
            <a:xfrm>
              <a:off x="7429500" y="3714750"/>
              <a:ext cx="4000500" cy="1905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52385" y="3879850"/>
              <a:ext cx="1017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9FBBD3"/>
                  </a:solidFill>
                  <a:latin typeface="+mn-lt"/>
                  <a:ea typeface="+mn-ea"/>
                  <a:cs typeface="+mn-cs"/>
                </a:rPr>
                <a:t>交互强度对比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50861" y="4260850"/>
              <a:ext cx="9989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流速 × 浓度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0" y="4305300"/>
              <a:ext cx="190500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50861" y="4641850"/>
              <a:ext cx="9989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流速 × 时间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144000" y="4686300"/>
              <a:ext cx="990600" cy="171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7658100" y="5048250"/>
              <a:ext cx="3543300" cy="9525"/>
            </a:xfrm>
            <a:custGeom>
              <a:avLst/>
              <a:gdLst/>
              <a:ahLst/>
              <a:cxnLst/>
              <a:rect l="l" t="t" r="r" b="b"/>
              <a:pathLst>
                <a:path w="3543300" h="9525">
                  <a:moveTo>
                    <a:pt x="0" y="0"/>
                  </a:moveTo>
                  <a:lnTo>
                    <a:pt x="3543300" y="0"/>
                  </a:lnTo>
                </a:path>
              </a:pathLst>
            </a:custGeom>
            <a:noFill/>
            <a:ln w="9525">
              <a:solidFill>
                <a:srgbClr val="3D5E8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51242" y="51689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时间不是主导交互因子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52385" y="5403850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FBBD3"/>
                  </a:solidFill>
                  <a:latin typeface="+mn-lt"/>
                  <a:ea typeface="+mn-ea"/>
                  <a:cs typeface="+mn-cs"/>
                </a:rPr>
                <a:t>条形长度按视觉分离幅度绘制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762000" y="6000750"/>
            <a:ext cx="10668000" cy="438150"/>
            <a:chOff x="762000" y="6000750"/>
            <a:chExt cx="10668000" cy="438150"/>
          </a:xfrm>
        </p:grpSpPr>
        <p:sp>
          <p:nvSpPr>
            <p:cNvPr id="28" name="Rectangle 28"/>
            <p:cNvSpPr/>
            <p:nvPr/>
          </p:nvSpPr>
          <p:spPr>
            <a:xfrm>
              <a:off x="762000" y="6000750"/>
              <a:ext cx="10668000" cy="43815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2000" y="6000750"/>
              <a:ext cx="381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21461" y="6108700"/>
              <a:ext cx="54859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两组交互都存在，但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流速 × 浓度 &gt; 流速 × 时间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，优先级排序明确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082147" y="6553200"/>
            <a:ext cx="15502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8B97A5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77850"/>
            <a:ext cx="6697218" cy="842264"/>
            <a:chOff x="745236" y="577850"/>
            <a:chExt cx="6697218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77850"/>
              <a:ext cx="1055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04 交互与局部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747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单个高信号样本的贡献可逐项追溯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7160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fig-waterfall"/>
          <p:cNvGrpSpPr/>
          <p:nvPr/>
        </p:nvGrpSpPr>
        <p:grpSpPr>
          <a:xfrm>
            <a:off x="756285" y="1733550"/>
            <a:ext cx="10673715" cy="3033078"/>
            <a:chOff x="756285" y="1733550"/>
            <a:chExt cx="10673715" cy="3033078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8892" y="1733550"/>
              <a:ext cx="6494216" cy="27432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762000" y="1733550"/>
              <a:ext cx="10668000" cy="274320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285" y="4546600"/>
              <a:ext cx="3904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图 8　子集 1_avg_all 高信号样本的 SHAP Waterfall 分解</a:t>
              </a:r>
            </a:p>
          </p:txBody>
        </p:sp>
      </p:grpSp>
      <p:grpSp>
        <p:nvGrpSpPr>
          <p:cNvPr id="13" name="decomp-band"/>
          <p:cNvGrpSpPr/>
          <p:nvPr/>
        </p:nvGrpSpPr>
        <p:grpSpPr>
          <a:xfrm>
            <a:off x="762000" y="4876800"/>
            <a:ext cx="10668000" cy="726694"/>
            <a:chOff x="762000" y="4876800"/>
            <a:chExt cx="10668000" cy="726694"/>
          </a:xfrm>
        </p:grpSpPr>
        <p:sp>
          <p:nvSpPr>
            <p:cNvPr id="10" name="Rectangle 10"/>
            <p:cNvSpPr/>
            <p:nvPr/>
          </p:nvSpPr>
          <p:spPr>
            <a:xfrm>
              <a:off x="762000" y="4876800"/>
              <a:ext cx="10668000" cy="704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1085" y="5041900"/>
              <a:ext cx="675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9FBBD3"/>
                  </a:solidFill>
                  <a:latin typeface="+mn-lt"/>
                  <a:ea typeface="+mn-ea"/>
                  <a:cs typeface="+mn-cs"/>
                </a:rPr>
                <a:t>分解结构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7656" y="5251450"/>
              <a:ext cx="34701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f(x) = E[f(X)] + Σ SHAP_i</a:t>
              </a:r>
            </a:p>
          </p:txBody>
        </p:sp>
      </p:grpSp>
      <p:grpSp>
        <p:nvGrpSpPr>
          <p:cNvPr id="16" name="reading-list"/>
          <p:cNvGrpSpPr/>
          <p:nvPr/>
        </p:nvGrpSpPr>
        <p:grpSpPr>
          <a:xfrm>
            <a:off x="754761" y="5842000"/>
            <a:ext cx="6877497" cy="577152"/>
            <a:chOff x="754761" y="5842000"/>
            <a:chExt cx="6877497" cy="577152"/>
          </a:xfrm>
        </p:grpSpPr>
        <p:sp>
          <p:nvSpPr>
            <p:cNvPr id="14" name="TextBox 14"/>
            <p:cNvSpPr txBox="1"/>
            <p:nvPr/>
          </p:nvSpPr>
          <p:spPr>
            <a:xfrm>
              <a:off x="754761" y="5842000"/>
              <a:ext cx="59025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主导贡献项与全局重要性排序</a:t>
              </a:r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一致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，验证了局部与全局归因的自洽性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4761" y="6140450"/>
              <a:ext cx="68774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y 轴标注 </a:t>
              </a:r>
              <a:r>
                <a:rPr lang="en-US" sz="14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feature_value = feature_label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，可直接读出该样本的实测参数值</a:t>
              </a:r>
            </a:p>
          </p:txBody>
        </p:sp>
      </p:grpSp>
      <p:grpSp>
        <p:nvGrpSpPr>
          <p:cNvPr id="19" name="page-footer"/>
          <p:cNvGrpSpPr/>
          <p:nvPr/>
        </p:nvGrpSpPr>
        <p:grpSpPr>
          <a:xfrm>
            <a:off x="757047" y="6553200"/>
            <a:ext cx="10480126" cy="191643"/>
            <a:chOff x="757047" y="6553200"/>
            <a:chExt cx="10480126" cy="191643"/>
          </a:xfrm>
        </p:grpSpPr>
        <p:sp>
          <p:nvSpPr>
            <p:cNvPr id="17" name="TextBox 17"/>
            <p:cNvSpPr txBox="1"/>
            <p:nvPr/>
          </p:nvSpPr>
          <p:spPr>
            <a:xfrm>
              <a:off x="757047" y="6553200"/>
              <a:ext cx="16560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SHAP 局部解释 · Waterfall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082147" y="655320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77850"/>
            <a:ext cx="4475988" cy="842264"/>
            <a:chOff x="745236" y="577850"/>
            <a:chExt cx="4475988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77850"/>
              <a:ext cx="1055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05 结论与建议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74700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五条可直接引用的结论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7160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1" name="concl-01"/>
          <p:cNvGrpSpPr/>
          <p:nvPr/>
        </p:nvGrpSpPr>
        <p:grpSpPr>
          <a:xfrm>
            <a:off x="762000" y="1809750"/>
            <a:ext cx="10668000" cy="838200"/>
            <a:chOff x="762000" y="1809750"/>
            <a:chExt cx="10668000" cy="838200"/>
          </a:xfrm>
        </p:grpSpPr>
        <p:sp>
          <p:nvSpPr>
            <p:cNvPr id="6" name="Rectangle 6"/>
            <p:cNvSpPr/>
            <p:nvPr/>
          </p:nvSpPr>
          <p:spPr>
            <a:xfrm>
              <a:off x="762000" y="1809750"/>
              <a:ext cx="106680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809750"/>
              <a:ext cx="38100" cy="83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5370" y="200025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84985" y="1993900"/>
              <a:ext cx="504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数据层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82699" y="2247900"/>
              <a:ext cx="51230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RSD 列被错标为 std，经 </a:t>
              </a:r>
              <a:r>
                <a:rPr lang="en-US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std/mean</a:t>
              </a: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修正后模型才可信</a:t>
              </a:r>
            </a:p>
          </p:txBody>
        </p:sp>
      </p:grpSp>
      <p:grpSp>
        <p:nvGrpSpPr>
          <p:cNvPr id="17" name="concl-02"/>
          <p:cNvGrpSpPr/>
          <p:nvPr/>
        </p:nvGrpSpPr>
        <p:grpSpPr>
          <a:xfrm>
            <a:off x="762000" y="2743200"/>
            <a:ext cx="10668000" cy="838200"/>
            <a:chOff x="762000" y="2743200"/>
            <a:chExt cx="10668000" cy="838200"/>
          </a:xfrm>
        </p:grpSpPr>
        <p:sp>
          <p:nvSpPr>
            <p:cNvPr id="12" name="Rectangle 12"/>
            <p:cNvSpPr/>
            <p:nvPr/>
          </p:nvSpPr>
          <p:spPr>
            <a:xfrm>
              <a:off x="762000" y="2743200"/>
              <a:ext cx="10668000" cy="8382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2743200"/>
              <a:ext cx="381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5370" y="293370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84985" y="2927350"/>
              <a:ext cx="504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模型层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82699" y="3181350"/>
              <a:ext cx="627476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Raman 目标 R² = </a:t>
              </a:r>
              <a:r>
                <a:rPr lang="zh-CN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0.995</a:t>
              </a: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，GroupKFold 验证后仍达 </a:t>
              </a:r>
              <a:r>
                <a:rPr lang="zh-CN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0.980</a:t>
              </a: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，非泄露</a:t>
              </a:r>
            </a:p>
          </p:txBody>
        </p:sp>
      </p:grpSp>
      <p:grpSp>
        <p:nvGrpSpPr>
          <p:cNvPr id="23" name="concl-03"/>
          <p:cNvGrpSpPr/>
          <p:nvPr/>
        </p:nvGrpSpPr>
        <p:grpSpPr>
          <a:xfrm>
            <a:off x="762000" y="3676650"/>
            <a:ext cx="10668000" cy="838200"/>
            <a:chOff x="762000" y="3676650"/>
            <a:chExt cx="10668000" cy="838200"/>
          </a:xfrm>
        </p:grpSpPr>
        <p:sp>
          <p:nvSpPr>
            <p:cNvPr id="18" name="Rectangle 18"/>
            <p:cNvSpPr/>
            <p:nvPr/>
          </p:nvSpPr>
          <p:spPr>
            <a:xfrm>
              <a:off x="762000" y="3676650"/>
              <a:ext cx="106680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2000" y="3676650"/>
              <a:ext cx="38100" cy="83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55370" y="386715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84985" y="3860800"/>
              <a:ext cx="504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归因层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82699" y="4114800"/>
              <a:ext cx="681175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浓度（</a:t>
              </a:r>
              <a:r>
                <a:rPr lang="zh-CN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802</a:t>
              </a: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）与采集时间（</a:t>
              </a:r>
              <a:r>
                <a:rPr lang="zh-CN" sz="15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601</a:t>
              </a: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）主导信号强度，激光功率（181）可固定</a:t>
              </a:r>
            </a:p>
          </p:txBody>
        </p:sp>
      </p:grpSp>
      <p:grpSp>
        <p:nvGrpSpPr>
          <p:cNvPr id="29" name="concl-04"/>
          <p:cNvGrpSpPr/>
          <p:nvPr/>
        </p:nvGrpSpPr>
        <p:grpSpPr>
          <a:xfrm>
            <a:off x="762000" y="4610100"/>
            <a:ext cx="10668000" cy="838200"/>
            <a:chOff x="762000" y="4610100"/>
            <a:chExt cx="10668000" cy="838200"/>
          </a:xfrm>
        </p:grpSpPr>
        <p:sp>
          <p:nvSpPr>
            <p:cNvPr id="24" name="Rectangle 24"/>
            <p:cNvSpPr/>
            <p:nvPr/>
          </p:nvSpPr>
          <p:spPr>
            <a:xfrm>
              <a:off x="762000" y="4610100"/>
              <a:ext cx="10668000" cy="8382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4610100"/>
              <a:ext cx="381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5370" y="480060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84985" y="4794250"/>
              <a:ext cx="504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交互层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82699" y="5048250"/>
              <a:ext cx="514579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流速 × 浓度在 RSD 上</a:t>
              </a:r>
              <a:r>
                <a:rPr lang="zh-CN" sz="15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强交互</a:t>
              </a: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，在 Raman 目标上</a:t>
              </a:r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无交互</a:t>
              </a:r>
            </a:p>
          </p:txBody>
        </p:sp>
      </p:grpSp>
      <p:grpSp>
        <p:nvGrpSpPr>
          <p:cNvPr id="35" name="concl-05"/>
          <p:cNvGrpSpPr/>
          <p:nvPr/>
        </p:nvGrpSpPr>
        <p:grpSpPr>
          <a:xfrm>
            <a:off x="762000" y="5543550"/>
            <a:ext cx="10668000" cy="838200"/>
            <a:chOff x="762000" y="5543550"/>
            <a:chExt cx="10668000" cy="838200"/>
          </a:xfrm>
        </p:grpSpPr>
        <p:sp>
          <p:nvSpPr>
            <p:cNvPr id="30" name="Rectangle 30"/>
            <p:cNvSpPr/>
            <p:nvPr/>
          </p:nvSpPr>
          <p:spPr>
            <a:xfrm>
              <a:off x="762000" y="5543550"/>
              <a:ext cx="106680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2000" y="5543550"/>
              <a:ext cx="38100" cy="838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55370" y="573405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84985" y="5727700"/>
              <a:ext cx="675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稳定性层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82699" y="5981700"/>
              <a:ext cx="596898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RSD 跨种子标准差 ≈ </a:t>
              </a:r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0.04</a:t>
              </a: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，R² ≈ </a:t>
              </a:r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0.70</a:t>
              </a: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，存在不可约的测量噪声</a:t>
              </a:r>
            </a:p>
          </p:txBody>
        </p:sp>
      </p:grpSp>
      <p:grpSp>
        <p:nvGrpSpPr>
          <p:cNvPr id="38" name="page-footer"/>
          <p:cNvGrpSpPr/>
          <p:nvPr/>
        </p:nvGrpSpPr>
        <p:grpSpPr>
          <a:xfrm>
            <a:off x="757047" y="6553200"/>
            <a:ext cx="10480126" cy="191643"/>
            <a:chOff x="757047" y="6553200"/>
            <a:chExt cx="10480126" cy="191643"/>
          </a:xfrm>
        </p:grpSpPr>
        <p:sp>
          <p:nvSpPr>
            <p:cNvPr id="36" name="TextBox 36"/>
            <p:cNvSpPr txBox="1"/>
            <p:nvPr/>
          </p:nvSpPr>
          <p:spPr>
            <a:xfrm>
              <a:off x="757047" y="65532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+mn-lt"/>
                  <a:ea typeface="+mn-ea"/>
                  <a:cs typeface="+mn-cs"/>
                </a:rPr>
                <a:t>核心结论汇总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82147" y="655320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B97A5"/>
                  </a:solidFill>
                  <a:latin typeface="Consolas"/>
                  <a:ea typeface="Consolas"/>
                  <a:cs typeface="Consola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rgbClr val="0D254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745236" y="596900"/>
            <a:ext cx="4031742" cy="842264"/>
            <a:chOff x="745236" y="596900"/>
            <a:chExt cx="4031742" cy="842264"/>
          </a:xfrm>
        </p:grpSpPr>
        <p:sp>
          <p:nvSpPr>
            <p:cNvPr id="2" name="TextBox 2"/>
            <p:cNvSpPr txBox="1"/>
            <p:nvPr/>
          </p:nvSpPr>
          <p:spPr>
            <a:xfrm>
              <a:off x="756666" y="596900"/>
              <a:ext cx="1055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7FA8C9"/>
                  </a:solidFill>
                  <a:latin typeface="+mn-lt"/>
                  <a:ea typeface="+mn-ea"/>
                  <a:cs typeface="+mn-cs"/>
                </a:rPr>
                <a:t>05 结论与建议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236" y="793750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下一步实验设计建议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390650"/>
              <a:ext cx="6096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priority-high"/>
          <p:cNvGrpSpPr/>
          <p:nvPr/>
        </p:nvGrpSpPr>
        <p:grpSpPr>
          <a:xfrm>
            <a:off x="762000" y="1809750"/>
            <a:ext cx="3390900" cy="2324100"/>
            <a:chOff x="762000" y="1809750"/>
            <a:chExt cx="3390900" cy="2324100"/>
          </a:xfrm>
        </p:grpSpPr>
        <p:sp>
          <p:nvSpPr>
            <p:cNvPr id="6" name="Rectangle 6"/>
            <p:cNvSpPr/>
            <p:nvPr/>
          </p:nvSpPr>
          <p:spPr>
            <a:xfrm>
              <a:off x="762000" y="1809750"/>
              <a:ext cx="3390900" cy="2324100"/>
            </a:xfrm>
            <a:prstGeom prst="rect">
              <a:avLst/>
            </a:prstGeom>
            <a:solidFill>
              <a:schemeClr val="lt1">
                <a:alpha val="6000"/>
              </a:scheme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809750"/>
              <a:ext cx="33909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2223" y="20193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8A8A"/>
                  </a:solidFill>
                  <a:latin typeface="+mn-lt"/>
                  <a:ea typeface="+mn-ea"/>
                  <a:cs typeface="+mn-cs"/>
                </a:rPr>
                <a:t>高优先级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1842" y="2425700"/>
              <a:ext cx="1613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核实数据导出脚本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2698750"/>
              <a:ext cx="2206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FDF"/>
                  </a:solidFill>
                  <a:latin typeface="+mn-lt"/>
                  <a:ea typeface="+mn-ea"/>
                  <a:cs typeface="+mn-cs"/>
                </a:rPr>
                <a:t>RSD 列改名为 std 或 error_bar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1842" y="3035300"/>
              <a:ext cx="1806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RSD 分析统一加上限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308350"/>
              <a:ext cx="2061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FDF"/>
                  </a:solidFill>
                  <a:latin typeface="+mn-lt"/>
                  <a:ea typeface="+mn-ea"/>
                  <a:cs typeface="+mn-cs"/>
                </a:rPr>
                <a:t>剔 RSD ≥ 0.30，防止单点污染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985" y="367030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FA8C9"/>
                  </a:solidFill>
                  <a:latin typeface="+mn-lt"/>
                  <a:ea typeface="+mn-ea"/>
                  <a:cs typeface="+mn-cs"/>
                </a:rPr>
                <a:t>理由：数据口径不清会传导到后续所有分析</a:t>
              </a:r>
            </a:p>
          </p:txBody>
        </p:sp>
      </p:grpSp>
      <p:grpSp>
        <p:nvGrpSpPr>
          <p:cNvPr id="22" name="priority-mid"/>
          <p:cNvGrpSpPr/>
          <p:nvPr/>
        </p:nvGrpSpPr>
        <p:grpSpPr>
          <a:xfrm>
            <a:off x="4400550" y="1809750"/>
            <a:ext cx="3390900" cy="2324100"/>
            <a:chOff x="4400550" y="1809750"/>
            <a:chExt cx="3390900" cy="2324100"/>
          </a:xfrm>
        </p:grpSpPr>
        <p:sp>
          <p:nvSpPr>
            <p:cNvPr id="15" name="Rectangle 15"/>
            <p:cNvSpPr/>
            <p:nvPr/>
          </p:nvSpPr>
          <p:spPr>
            <a:xfrm>
              <a:off x="4400550" y="1809750"/>
              <a:ext cx="3390900" cy="2324100"/>
            </a:xfrm>
            <a:prstGeom prst="rect">
              <a:avLst/>
            </a:prstGeom>
            <a:solidFill>
              <a:schemeClr val="lt1">
                <a:alpha val="6000"/>
              </a:scheme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00550" y="1809750"/>
              <a:ext cx="3390900" cy="38100"/>
            </a:xfrm>
            <a:prstGeom prst="rect">
              <a:avLst/>
            </a:prstGeom>
            <a:solidFill>
              <a:srgbClr val="E8A31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60773" y="20193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5C777"/>
                  </a:solidFill>
                  <a:latin typeface="+mn-lt"/>
                  <a:ea typeface="+mn-ea"/>
                  <a:cs typeface="+mn-cs"/>
                </a:rPr>
                <a:t>中优先级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60392" y="2425700"/>
              <a:ext cx="1184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跨批次 SHAP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75835" y="269875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FDF"/>
                  </a:solidFill>
                  <a:latin typeface="+mn-lt"/>
                  <a:ea typeface="+mn-ea"/>
                  <a:cs typeface="+mn-cs"/>
                </a:rPr>
                <a:t>把修正后的新数据与旧数据合并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75835" y="28892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FDF"/>
                  </a:solidFill>
                  <a:latin typeface="+mn-lt"/>
                  <a:ea typeface="+mn-ea"/>
                  <a:cs typeface="+mn-cs"/>
                </a:rPr>
                <a:t>验证批次稳定性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61535" y="3670300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FA8C9"/>
                  </a:solidFill>
                  <a:latin typeface="+mn-lt"/>
                  <a:ea typeface="+mn-ea"/>
                  <a:cs typeface="+mn-cs"/>
                </a:rPr>
                <a:t>理由：当前结论仅基于单一批次</a:t>
              </a:r>
            </a:p>
          </p:txBody>
        </p:sp>
      </p:grpSp>
      <p:grpSp>
        <p:nvGrpSpPr>
          <p:cNvPr id="31" name="priority-low"/>
          <p:cNvGrpSpPr/>
          <p:nvPr/>
        </p:nvGrpSpPr>
        <p:grpSpPr>
          <a:xfrm>
            <a:off x="8039100" y="1809750"/>
            <a:ext cx="3390900" cy="2324100"/>
            <a:chOff x="8039100" y="1809750"/>
            <a:chExt cx="3390900" cy="2324100"/>
          </a:xfrm>
        </p:grpSpPr>
        <p:sp>
          <p:nvSpPr>
            <p:cNvPr id="23" name="Rectangle 23"/>
            <p:cNvSpPr/>
            <p:nvPr/>
          </p:nvSpPr>
          <p:spPr>
            <a:xfrm>
              <a:off x="8039100" y="1809750"/>
              <a:ext cx="3390900" cy="2324100"/>
            </a:xfrm>
            <a:prstGeom prst="rect">
              <a:avLst/>
            </a:prstGeom>
            <a:solidFill>
              <a:schemeClr val="lt1">
                <a:alpha val="6000"/>
              </a:schemeClr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39100" y="1809750"/>
              <a:ext cx="3390900" cy="38100"/>
            </a:xfrm>
            <a:prstGeom prst="rect">
              <a:avLst/>
            </a:prstGeom>
            <a:solidFill>
              <a:srgbClr val="5BA88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99323" y="201930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8FD4BC"/>
                  </a:solidFill>
                  <a:latin typeface="+mn-lt"/>
                  <a:ea typeface="+mn-ea"/>
                  <a:cs typeface="+mn-cs"/>
                </a:rPr>
                <a:t>可执行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8942" y="2425700"/>
              <a:ext cx="1658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每组合重复 2–3 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4385" y="2698750"/>
              <a:ext cx="1274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FDF"/>
                  </a:solidFill>
                  <a:latin typeface="+mn-lt"/>
                  <a:ea typeface="+mn-ea"/>
                  <a:cs typeface="+mn-cs"/>
                </a:rPr>
                <a:t>获得 RSD 置信区间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98942" y="3035300"/>
              <a:ext cx="1431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避开已饱和区间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14385" y="3308350"/>
              <a:ext cx="24327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9CFDF"/>
                  </a:solidFill>
                  <a:latin typeface="+mn-lt"/>
                  <a:ea typeface="+mn-ea"/>
                  <a:cs typeface="+mn-cs"/>
                </a:rPr>
                <a:t>浓度 &gt; 80 pM、流速 &gt; 320 收益递减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00085" y="36703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FA8C9"/>
                  </a:solidFill>
                  <a:latin typeface="+mn-lt"/>
                  <a:ea typeface="+mn-ea"/>
                  <a:cs typeface="+mn-cs"/>
                </a:rPr>
                <a:t>理由：直接提升下一轮数据的信息量</a:t>
              </a:r>
            </a:p>
          </p:txBody>
        </p:sp>
      </p:grpSp>
      <p:grpSp>
        <p:nvGrpSpPr>
          <p:cNvPr id="37" name="closing-takeaway"/>
          <p:cNvGrpSpPr/>
          <p:nvPr/>
        </p:nvGrpSpPr>
        <p:grpSpPr>
          <a:xfrm>
            <a:off x="762000" y="4552950"/>
            <a:ext cx="10668000" cy="1238250"/>
            <a:chOff x="762000" y="4552950"/>
            <a:chExt cx="10668000" cy="1238250"/>
          </a:xfrm>
        </p:grpSpPr>
        <p:sp>
          <p:nvSpPr>
            <p:cNvPr id="32" name="Rectangle 32"/>
            <p:cNvSpPr/>
            <p:nvPr/>
          </p:nvSpPr>
          <p:spPr>
            <a:xfrm>
              <a:off x="762000" y="4552950"/>
              <a:ext cx="10668000" cy="1238250"/>
            </a:xfrm>
            <a:prstGeom prst="rect">
              <a:avLst/>
            </a:prstGeom>
            <a:solidFill>
              <a:schemeClr val="lt1">
                <a:alpha val="8000"/>
              </a:scheme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2000" y="4552950"/>
              <a:ext cx="5715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37285" y="4794250"/>
              <a:ext cx="20428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150" dirty="0">
                  <a:solidFill>
                    <a:srgbClr val="7FA8C9"/>
                  </a:solidFill>
                  <a:latin typeface="+mn-lt"/>
                  <a:ea typeface="+mn-ea"/>
                  <a:cs typeface="+mn-cs"/>
                </a:rPr>
                <a:t>可立即执行的实验设计原则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30046" y="5048250"/>
              <a:ext cx="42276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浓度↑</a:t>
              </a:r>
              <a:r>
                <a:rPr lang="zh-CN" sz="2550" b="1" dirty="0">
                  <a:solidFill>
                    <a:srgbClr val="FF8A8A"/>
                  </a:solidFill>
                  <a:latin typeface="Consolas"/>
                  <a:ea typeface="Consolas"/>
                  <a:cs typeface="Consolas"/>
                </a:rPr>
                <a:t xml:space="preserve"> / </a:t>
              </a:r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时间↑</a:t>
              </a:r>
              <a:r>
                <a:rPr lang="zh-CN" sz="2550" b="1" dirty="0">
                  <a:solidFill>
                    <a:srgbClr val="FF8A8A"/>
                  </a:solidFill>
                  <a:latin typeface="Consolas"/>
                  <a:ea typeface="Consolas"/>
                  <a:cs typeface="Consolas"/>
                </a:rPr>
                <a:t xml:space="preserve"> / </a:t>
              </a:r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流速 &gt; 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6523" y="5486400"/>
              <a:ext cx="428486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9CFDF"/>
                  </a:solidFill>
                  <a:latin typeface="+mn-lt"/>
                  <a:ea typeface="+mn-ea"/>
                  <a:cs typeface="+mn-cs"/>
                </a:rPr>
                <a:t>依据：SHAP 归因给出的方向性 + 依赖图给出的拐点位置</a:t>
              </a:r>
            </a:p>
          </p:txBody>
        </p:sp>
      </p:grpSp>
      <p:grpSp>
        <p:nvGrpSpPr>
          <p:cNvPr id="41" name="closing-meta"/>
          <p:cNvGrpSpPr/>
          <p:nvPr/>
        </p:nvGrpSpPr>
        <p:grpSpPr>
          <a:xfrm>
            <a:off x="756285" y="6038850"/>
            <a:ext cx="10673715" cy="705993"/>
            <a:chOff x="756285" y="6038850"/>
            <a:chExt cx="10673715" cy="705993"/>
          </a:xfrm>
        </p:grpSpPr>
        <p:sp>
          <p:nvSpPr>
            <p:cNvPr id="38" name="Line 38"/>
            <p:cNvSpPr/>
            <p:nvPr/>
          </p:nvSpPr>
          <p:spPr>
            <a:xfrm>
              <a:off x="762000" y="60388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3D5E80">
                  <a:alpha val="60000"/>
                </a:srgbClr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6285" y="6165850"/>
              <a:ext cx="4904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FA8C9"/>
                  </a:solidFill>
                  <a:latin typeface="+mn-lt"/>
                  <a:ea typeface="+mn-ea"/>
                  <a:cs typeface="+mn-cs"/>
                </a:rPr>
                <a:t>Gradient Boosting Regression + SHAP · Datanew-8.31 · 1023 条观测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82147" y="6553200"/>
              <a:ext cx="1550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FA8C9"/>
                  </a:solidFill>
                  <a:latin typeface="Consolas"/>
                  <a:ea typeface="Consolas"/>
                  <a:cs typeface="Consola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aman_shap_analysis">
  <a:themeElements>
    <a:clrScheme name="raman_shap_analysis">
      <a:dk1>
        <a:srgbClr val="1A1A1A"/>
      </a:dk1>
      <a:lt1>
        <a:srgbClr val="FFFFFF"/>
      </a:lt1>
      <a:dk2>
        <a:srgbClr val="1F497D"/>
      </a:dk2>
      <a:lt2>
        <a:srgbClr val="F5F7FA"/>
      </a:lt2>
      <a:accent1>
        <a:srgbClr val="12355B"/>
      </a:accent1>
      <a:accent2>
        <a:srgbClr val="C8102E"/>
      </a:accent2>
      <a:accent3>
        <a:srgbClr val="3D7EA6"/>
      </a:accent3>
      <a:accent4>
        <a:srgbClr val="12355B"/>
      </a:accent4>
      <a:accent5>
        <a:srgbClr val="5A6472"/>
      </a:accent5>
      <a:accent6>
        <a:srgbClr val="D8DEE6"/>
      </a:accent6>
      <a:hlink>
        <a:srgbClr val="C8102E"/>
      </a:hlink>
      <a:folHlink>
        <a:srgbClr val="3D7EA6"/>
      </a:folHlink>
    </a:clrScheme>
    <a:fontScheme name="raman_shap_analysi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aman_shap_analy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2026-10-09T06:33:26Z</dcterms:created>
  <dcterms:modified xsi:type="dcterms:W3CDTF">2026-10-09T06:33:26Z</dcterms:modified>
  <cp:category/>
  <cp:contentStatus/>
</cp:coreProperties>
</file>